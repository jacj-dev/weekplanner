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260" r:id="rId5"/>
    <p:sldId id="267" r:id="rId6"/>
    <p:sldId id="274" r:id="rId7"/>
    <p:sldId id="275" r:id="rId8"/>
    <p:sldId id="276" r:id="rId9"/>
    <p:sldId id="269" r:id="rId10"/>
    <p:sldId id="277" r:id="rId11"/>
    <p:sldId id="278" r:id="rId12"/>
    <p:sldId id="279" r:id="rId13"/>
    <p:sldId id="272" r:id="rId14"/>
    <p:sldId id="280" r:id="rId15"/>
  </p:sldIdLst>
  <p:sldSz cx="12192000" cy="6858000"/>
  <p:notesSz cx="6858000" cy="9144000"/>
  <p:embeddedFontLst>
    <p:embeddedFont>
      <p:font typeface="Tahoma" panose="020B0604030504040204" pitchFamily="34" charset="0"/>
      <p:regular r:id="rId18"/>
      <p:bold r:id="rId19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08" autoAdjust="0"/>
    <p:restoredTop sz="94662"/>
  </p:normalViewPr>
  <p:slideViewPr>
    <p:cSldViewPr snapToGrid="0" snapToObjects="1">
      <p:cViewPr varScale="1">
        <p:scale>
          <a:sx n="105" d="100"/>
          <a:sy n="105" d="100"/>
        </p:scale>
        <p:origin x="101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1.fntdata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undo custSel modSld">
      <pc:chgData name="David Hoksbergen" userId="fea57724-933b-4009-85de-d6e631dbc231" providerId="ADAL" clId="{0593DD17-017D-4879-923D-48F6DB4E361D}" dt="2026-02-24T08:18:47.128" v="40" actId="1037"/>
      <pc:docMkLst>
        <pc:docMk/>
      </pc:docMkLst>
      <pc:sldChg chg="modSp mod">
        <pc:chgData name="David Hoksbergen" userId="fea57724-933b-4009-85de-d6e631dbc231" providerId="ADAL" clId="{0593DD17-017D-4879-923D-48F6DB4E361D}" dt="2026-02-24T08:18:47.128" v="40" actId="1037"/>
        <pc:sldMkLst>
          <pc:docMk/>
          <pc:sldMk cId="2504022561" sldId="280"/>
        </pc:sldMkLst>
        <pc:spChg chg="mod">
          <ac:chgData name="David Hoksbergen" userId="fea57724-933b-4009-85de-d6e631dbc231" providerId="ADAL" clId="{0593DD17-017D-4879-923D-48F6DB4E361D}" dt="2026-02-24T08:18:47.128" v="40" actId="1037"/>
          <ac:spMkLst>
            <pc:docMk/>
            <pc:sldMk cId="2504022561" sldId="280"/>
            <ac:spMk id="10" creationId="{2D1BDDC5-8E37-1218-E48E-72BAB8D6E015}"/>
          </ac:spMkLst>
        </pc:spChg>
        <pc:spChg chg="mod">
          <ac:chgData name="David Hoksbergen" userId="fea57724-933b-4009-85de-d6e631dbc231" providerId="ADAL" clId="{0593DD17-017D-4879-923D-48F6DB4E361D}" dt="2026-02-24T08:18:47.128" v="40" actId="1037"/>
          <ac:spMkLst>
            <pc:docMk/>
            <pc:sldMk cId="2504022561" sldId="280"/>
            <ac:spMk id="11" creationId="{4836B3E8-6455-6F30-E4D9-E36A5FDDBFBA}"/>
          </ac:spMkLst>
        </pc:spChg>
        <pc:spChg chg="mod">
          <ac:chgData name="David Hoksbergen" userId="fea57724-933b-4009-85de-d6e631dbc231" providerId="ADAL" clId="{0593DD17-017D-4879-923D-48F6DB4E361D}" dt="2026-02-24T08:18:47.128" v="40" actId="1037"/>
          <ac:spMkLst>
            <pc:docMk/>
            <pc:sldMk cId="2504022561" sldId="280"/>
            <ac:spMk id="12" creationId="{E9D8393E-C7B6-0D50-5D67-80BF41EBCEC6}"/>
          </ac:spMkLst>
        </pc:spChg>
        <pc:spChg chg="mod">
          <ac:chgData name="David Hoksbergen" userId="fea57724-933b-4009-85de-d6e631dbc231" providerId="ADAL" clId="{0593DD17-017D-4879-923D-48F6DB4E361D}" dt="2026-02-24T08:18:47.128" v="40" actId="1037"/>
          <ac:spMkLst>
            <pc:docMk/>
            <pc:sldMk cId="2504022561" sldId="280"/>
            <ac:spMk id="13" creationId="{F772F19B-CDCF-4FF2-3BAD-007DECEE572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1.5 Piramide en prisma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M Prisma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536106" cy="4695189"/>
          </a:xfrm>
        </p:spPr>
        <p:txBody>
          <a:bodyPr/>
          <a:lstStyle/>
          <a:p>
            <a:r>
              <a:rPr lang="nl-NL" dirty="0"/>
              <a:t>Welke verpakking heeft de vorm van een prisma?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19183" y="1480807"/>
            <a:ext cx="1011939" cy="297663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0824" y="1889906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1263" y="1889906"/>
            <a:ext cx="591360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1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1264" y="2673372"/>
            <a:ext cx="444859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2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9" y="3475094"/>
            <a:ext cx="379345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3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09310" y="4276816"/>
            <a:ext cx="393943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4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0824" y="267337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0824" y="3477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1881" y="428173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5151845-B1F1-89B2-3047-2527585151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586" y="2963653"/>
            <a:ext cx="6367511" cy="21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EB176-7516-B1C2-97F7-FCE9CB27A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B64B2CF-D1A7-16CB-BB7F-4082DE71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66BE896-03BE-01C8-BCAB-242B04E249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536106" cy="4695189"/>
          </a:xfrm>
        </p:spPr>
        <p:txBody>
          <a:bodyPr/>
          <a:lstStyle/>
          <a:p>
            <a:r>
              <a:rPr lang="nl-NL" dirty="0"/>
              <a:t>Hoeveel zijvlakken van het prisma hebben de vorm van een driehoek?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6250FA0-F309-CB3E-6754-64ED4712AB9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780803" y="2476213"/>
            <a:ext cx="840004" cy="198357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8B238A2-C78F-DB31-E75C-4A42A92CCA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0824" y="2376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711D0F0-8A56-91C8-A3C4-EE1AB7D26C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1263" y="2376000"/>
            <a:ext cx="591360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C5A3FBB-4B7F-8CC4-68DC-11B54FD2678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1264" y="3168000"/>
            <a:ext cx="444859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9DDC1C37-D282-D494-D4E7-8AD8D1F3C35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9" y="3924000"/>
            <a:ext cx="379345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99CEB6AD-D615-C62F-23BB-786AE48D0E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09310" y="4680000"/>
            <a:ext cx="393943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5035F814-89A6-ECA9-C7C4-2F2A238E04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0824" y="3168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342A789E-3811-08EC-9997-B64B64365A4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0824" y="3924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298BE172-A454-3675-FEEA-25113655EEE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1881" y="4680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6601CF67-E6E2-0B8B-3B33-23A2C7CEC8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86298" y="2340004"/>
            <a:ext cx="3955417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8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B110B-07F8-B537-001A-910D8A3E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FB2E755-3C3C-CDD2-CA86-E38C94623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DC75933-EF9F-3D7D-0757-CADA2F53A79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536106" cy="4695189"/>
          </a:xfrm>
        </p:spPr>
        <p:txBody>
          <a:bodyPr/>
          <a:lstStyle/>
          <a:p>
            <a:r>
              <a:rPr lang="nl-NL" dirty="0"/>
              <a:t>Hoeveel zijvlakken van het prisma hebben de vorm van een rechthoek?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69E84A6-E90E-D5D6-11FF-E5422F62BA5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907065" y="3229211"/>
            <a:ext cx="840004" cy="198357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B319EFEF-E1F8-8342-4692-4231364C70B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0824" y="2376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B1A4E8E-058D-E1D2-8904-2C49612588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1263" y="2376000"/>
            <a:ext cx="591360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1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DCA6C8F-E22A-EADC-87D9-084316CC020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1264" y="3168000"/>
            <a:ext cx="444859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2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C667CFA1-7AD0-2004-4D09-6BF93391205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9" y="3924000"/>
            <a:ext cx="379345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06BD9E99-7FD5-2E95-81F0-45533DBBA6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09310" y="4680000"/>
            <a:ext cx="393943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15FD421-67DA-36D7-1B55-C84997A8ED4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0824" y="3168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5FE300C2-7C77-4C4E-9707-034BE16BE9B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0824" y="3924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6FEED4FC-A2DD-CFBB-90B6-26B94471C58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1881" y="4680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06A516D7-A867-290A-BA58-B2F6FF1593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86298" y="2340004"/>
            <a:ext cx="3955417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5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82233-5E8E-C69D-3248-8D08F84B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66F95E-57C6-9192-05F2-F1359469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02D91D5-674C-B9CB-2218-5A23DB2787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4991" y="1111250"/>
            <a:ext cx="8536106" cy="4695189"/>
          </a:xfrm>
        </p:spPr>
        <p:txBody>
          <a:bodyPr/>
          <a:lstStyle/>
          <a:p>
            <a:r>
              <a:rPr lang="nl-NL" dirty="0"/>
              <a:t>Hoeveel hoekpunten heeft het prisma? 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B2D5D41-F438-70CD-89CD-83FC83F472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795924" y="3985211"/>
            <a:ext cx="840004" cy="1983578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FB13769-5ADD-4615-9B53-AE9395F0E14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0824" y="2376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8459C42-86A0-8530-3160-0A87F048390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21263" y="2376000"/>
            <a:ext cx="591360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3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EE0F3FC-7C21-042B-03A1-697C107FD91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21264" y="3168000"/>
            <a:ext cx="4448594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4F20C079-E711-33A3-FB78-40C130EFEDF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9" y="3924000"/>
            <a:ext cx="379345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5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F07CBC64-AAA0-C43B-F441-6717D5678E46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409310" y="4680000"/>
            <a:ext cx="3939438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BABE20B3-079C-EDFA-6B74-482DE7621DE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10824" y="3168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DEF8D2F-45EC-6450-97E2-86EEB6DE063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10824" y="3924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5177663D-0B32-E497-BB37-C9E0DE607AD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21881" y="4680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3FCD4E6-7F18-A856-0C52-2F00369C80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86298" y="2340004"/>
            <a:ext cx="3955417" cy="3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222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8776649" cy="4242910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Het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prisma</a:t>
            </a:r>
            <a:r>
              <a:rPr lang="nl-NL" dirty="0"/>
              <a:t> hiernaast heeft</a:t>
            </a:r>
          </a:p>
          <a:p>
            <a:r>
              <a:rPr lang="nl-NL" dirty="0"/>
              <a:t>• 6 hoekpunten</a:t>
            </a:r>
          </a:p>
          <a:p>
            <a:r>
              <a:rPr lang="nl-NL" dirty="0"/>
              <a:t>• 9 ribben</a:t>
            </a:r>
          </a:p>
          <a:p>
            <a:r>
              <a:rPr lang="nl-NL" dirty="0"/>
              <a:t>• 5 platte zijvlakken.</a:t>
            </a:r>
          </a:p>
          <a:p>
            <a:r>
              <a:rPr lang="nl-NL" dirty="0"/>
              <a:t>Drie platte zijvlakken hebben de vorm van een rechthoek.</a:t>
            </a:r>
          </a:p>
          <a:p>
            <a:r>
              <a:rPr lang="nl-NL" dirty="0"/>
              <a:t>Twee platte zijvlakken hebben niet de vorm van een</a:t>
            </a:r>
            <a:br>
              <a:rPr lang="nl-NL" dirty="0"/>
            </a:br>
            <a:r>
              <a:rPr lang="nl-NL" dirty="0"/>
              <a:t>rechthoek. Die liggen tegenover elkaar. </a:t>
            </a:r>
          </a:p>
          <a:p>
            <a:r>
              <a:rPr lang="nl-NL" dirty="0"/>
              <a:t>Eén van die zijvlakken is het grondvlak.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95D07873-AA51-CA65-AC6F-D7AA842A96C1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M Prisma</a:t>
            </a:r>
          </a:p>
        </p:txBody>
      </p:sp>
      <p:pic>
        <p:nvPicPr>
          <p:cNvPr id="5" name="Afbeelding 4" descr="Afbeelding met driehoek, lijn, diagram&#10;&#10;Door AI gegenereerde inhoud is mogelijk onjuist.">
            <a:extLst>
              <a:ext uri="{FF2B5EF4-FFF2-40B4-BE49-F238E27FC236}">
                <a16:creationId xmlns:a16="http://schemas.microsoft.com/office/drawing/2014/main" id="{56EA5B82-74E7-7222-DC28-8C7136ACE63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92944" y="1269327"/>
            <a:ext cx="3036036" cy="2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36F2-9818-F005-51CF-4BCC91C2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F0F27F9-5300-8867-AF92-29D710A90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3AAE03EC-36A3-01BD-E9BD-E4C365181E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8776649" cy="4242910"/>
          </a:xfrm>
        </p:spPr>
        <p:txBody>
          <a:bodyPr>
            <a:normAutofit/>
          </a:bodyPr>
          <a:lstStyle/>
          <a:p>
            <a:r>
              <a:rPr lang="nl-NL" dirty="0"/>
              <a:t>Grondvlak </a:t>
            </a:r>
            <a:r>
              <a:rPr lang="nl-NL" i="1" dirty="0"/>
              <a:t>ABC</a:t>
            </a:r>
            <a:r>
              <a:rPr lang="nl-NL" dirty="0"/>
              <a:t> is rood gekleurd. </a:t>
            </a:r>
          </a:p>
          <a:p>
            <a:r>
              <a:rPr lang="nl-NL" dirty="0"/>
              <a:t>Ribbe </a:t>
            </a:r>
            <a:r>
              <a:rPr lang="nl-NL" i="1" dirty="0"/>
              <a:t>CF</a:t>
            </a:r>
            <a:r>
              <a:rPr lang="nl-NL" dirty="0"/>
              <a:t> is blauw gekleurd. </a:t>
            </a:r>
          </a:p>
          <a:p>
            <a:r>
              <a:rPr lang="nl-NL" dirty="0"/>
              <a:t>Het prisma heet </a:t>
            </a:r>
            <a:r>
              <a:rPr lang="nl-NL" i="1" dirty="0"/>
              <a:t>prisma</a:t>
            </a:r>
            <a:r>
              <a:rPr lang="nl-NL" dirty="0"/>
              <a:t> </a:t>
            </a:r>
            <a:r>
              <a:rPr lang="nl-NL" i="1" dirty="0"/>
              <a:t>ABC DEF</a:t>
            </a:r>
            <a:r>
              <a:rPr lang="nl-NL" dirty="0"/>
              <a:t>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61BCD2DE-7E5D-3725-1CCA-666FB87BAAD7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M Prisma</a:t>
            </a:r>
          </a:p>
        </p:txBody>
      </p:sp>
      <p:pic>
        <p:nvPicPr>
          <p:cNvPr id="5" name="Afbeelding 4" descr="Afbeelding met driehoek, lijn, diagram&#10;&#10;Door AI gegenereerde inhoud is mogelijk onjuist.">
            <a:extLst>
              <a:ext uri="{FF2B5EF4-FFF2-40B4-BE49-F238E27FC236}">
                <a16:creationId xmlns:a16="http://schemas.microsoft.com/office/drawing/2014/main" id="{D84CB644-6BBB-6298-D7B2-348D32C3DF5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92944" y="1269327"/>
            <a:ext cx="3036036" cy="241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90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1E3A3-138A-9E0E-05C5-DF6CD54D1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594A732-B9E8-4016-F2E0-E57A29DA2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71FC784-102C-1A95-F587-824844CAE0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9368305" cy="4242910"/>
          </a:xfrm>
        </p:spPr>
        <p:txBody>
          <a:bodyPr>
            <a:normAutofit/>
          </a:bodyPr>
          <a:lstStyle/>
          <a:p>
            <a:r>
              <a:rPr lang="nl-NL" dirty="0"/>
              <a:t>Hieronder zie je vijf verschillende prisma’s. </a:t>
            </a:r>
          </a:p>
          <a:p>
            <a:r>
              <a:rPr lang="nl-NL" dirty="0"/>
              <a:t>In elk prisma is het grondvlak rood gekleurd. </a:t>
            </a:r>
          </a:p>
          <a:p>
            <a:r>
              <a:rPr lang="nl-NL" dirty="0"/>
              <a:t>Je ziet dat een prisma niet altijd op het grondvlak staat.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1502B592-79A5-1274-4E56-A7972B832D16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M Prisma</a:t>
            </a:r>
          </a:p>
        </p:txBody>
      </p:sp>
      <p:pic>
        <p:nvPicPr>
          <p:cNvPr id="6" name="Afbeelding 5" descr="Afbeelding met schets, diagram, origami, ontwerp&#10;&#10;Door AI gegenereerde inhoud is mogelijk onjuist.">
            <a:extLst>
              <a:ext uri="{FF2B5EF4-FFF2-40B4-BE49-F238E27FC236}">
                <a16:creationId xmlns:a16="http://schemas.microsoft.com/office/drawing/2014/main" id="{947D5EEB-470B-6A97-B328-0C911F154DE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6665" y="3630581"/>
            <a:ext cx="8418140" cy="17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32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060F5-5041-96D9-DE37-2225A30DE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A25DEC1-263B-4539-BE8F-DCFAD7857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C25170C4-69FF-5FF5-61C7-ECB29C0954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2" y="1115671"/>
            <a:ext cx="10024804" cy="4242910"/>
          </a:xfrm>
        </p:spPr>
        <p:txBody>
          <a:bodyPr>
            <a:normAutofit/>
          </a:bodyPr>
          <a:lstStyle/>
          <a:p>
            <a:r>
              <a:rPr lang="nl-NL" dirty="0"/>
              <a:t>Hiernaast zie je een prisma met een uitslag. </a:t>
            </a:r>
          </a:p>
          <a:p>
            <a:r>
              <a:rPr lang="nl-NL" dirty="0"/>
              <a:t>Twee zijvlakken van het prisma zijn driehoeken en de andere zijvlakken zijn rechthoeken. </a:t>
            </a:r>
          </a:p>
          <a:p>
            <a:r>
              <a:rPr lang="nl-NL" dirty="0"/>
              <a:t>Eén van de driehoeken is het grondvlak.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C9F0DB25-F00F-EE70-B9C2-7A407AD93E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1" y="5527545"/>
            <a:ext cx="9614112" cy="765100"/>
          </a:xfrm>
        </p:spPr>
        <p:txBody>
          <a:bodyPr>
            <a:normAutofit/>
          </a:bodyPr>
          <a:lstStyle/>
          <a:p>
            <a:r>
              <a:rPr lang="nl-NL" b="1" dirty="0"/>
              <a:t>Leerdoel</a:t>
            </a:r>
            <a:r>
              <a:rPr lang="nl-NL" dirty="0"/>
              <a:t>  Je kunt het grondvlak, de ribben en de zijvlakken van een prisma met letters   		   benoemen.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CDB16EF7-EB5E-E89F-9DF6-46AD59749E4D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M Prisma</a:t>
            </a:r>
          </a:p>
        </p:txBody>
      </p:sp>
      <p:pic>
        <p:nvPicPr>
          <p:cNvPr id="5" name="Afbeelding 4" descr="Afbeelding met lijn, diagram, origami&#10;&#10;Door AI gegenereerde inhoud is mogelijk onjuist.">
            <a:extLst>
              <a:ext uri="{FF2B5EF4-FFF2-40B4-BE49-F238E27FC236}">
                <a16:creationId xmlns:a16="http://schemas.microsoft.com/office/drawing/2014/main" id="{4635FAB4-318C-C01A-C04D-A5B81209E5A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324655" y="3097934"/>
            <a:ext cx="4598809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263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Testopgave Prisma (blz. 58)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851660"/>
            <a:ext cx="8197599" cy="4186752"/>
          </a:xfrm>
        </p:spPr>
        <p:txBody>
          <a:bodyPr/>
          <a:lstStyle/>
          <a:p>
            <a:r>
              <a:rPr lang="nl-NL" dirty="0"/>
              <a:t>Welke ribben komen in hoekpunt </a:t>
            </a:r>
            <a:r>
              <a:rPr lang="nl-NL" i="1" dirty="0"/>
              <a:t>G </a:t>
            </a:r>
            <a:r>
              <a:rPr lang="nl-NL" dirty="0"/>
              <a:t>bij elkaar?</a:t>
            </a:r>
          </a:p>
          <a:p>
            <a:r>
              <a:rPr lang="nl-NL" dirty="0"/>
              <a:t>Hoeveel zijvlakken hebben de vorm van een rechthoek?</a:t>
            </a:r>
          </a:p>
          <a:p>
            <a:r>
              <a:rPr lang="nl-NL" dirty="0"/>
              <a:t>Welk zijvlak is het grondvlak?</a:t>
            </a:r>
          </a:p>
          <a:p>
            <a:r>
              <a:rPr lang="nl-NL" dirty="0"/>
              <a:t>Hoe heet dit prisma?</a:t>
            </a:r>
          </a:p>
        </p:txBody>
      </p:sp>
      <p:pic>
        <p:nvPicPr>
          <p:cNvPr id="4" name="Afbeelding 3" descr="Afbeelding met diagram, lijn, driehoek&#10;&#10;Door AI gegenereerde inhoud is mogelijk onjuist.">
            <a:extLst>
              <a:ext uri="{FF2B5EF4-FFF2-40B4-BE49-F238E27FC236}">
                <a16:creationId xmlns:a16="http://schemas.microsoft.com/office/drawing/2014/main" id="{A8ACCBBF-3C0A-F412-746D-636C017EE69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45027" y="2703036"/>
            <a:ext cx="3409420" cy="248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0DFAC-79AB-7C27-7ACD-EC9992437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F8F5FCE-775B-644F-D01C-FFE83FD1F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544A2B2-A9D9-E4E3-4327-3EB19B3596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754978"/>
            <a:ext cx="5472112" cy="739260"/>
          </a:xfrm>
        </p:spPr>
        <p:txBody>
          <a:bodyPr/>
          <a:lstStyle/>
          <a:p>
            <a:r>
              <a:rPr lang="nl-NL" dirty="0"/>
              <a:t>Testopgave Prisma (blz. 58)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FDE79CD-5380-DCDC-4BC7-DD0AFF01A5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7" y="1487157"/>
            <a:ext cx="8197599" cy="4874314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Welke ribben komen in hoekpunt </a:t>
            </a:r>
            <a:r>
              <a:rPr lang="nl-NL" i="1" dirty="0"/>
              <a:t>G </a:t>
            </a:r>
            <a:r>
              <a:rPr lang="nl-NL" dirty="0"/>
              <a:t>bij elkaar?</a:t>
            </a:r>
            <a:br>
              <a:rPr lang="nl-NL" dirty="0"/>
            </a:br>
            <a:endParaRPr lang="nl-NL" dirty="0"/>
          </a:p>
          <a:p>
            <a:endParaRPr lang="nl-NL" dirty="0"/>
          </a:p>
          <a:p>
            <a:r>
              <a:rPr lang="nl-NL" dirty="0"/>
              <a:t>Hoeveel zijvlakken hebben de vorm van een rechthoek?</a:t>
            </a:r>
            <a:br>
              <a:rPr lang="nl-NL" dirty="0"/>
            </a:br>
            <a:endParaRPr lang="nl-NL" dirty="0"/>
          </a:p>
          <a:p>
            <a:endParaRPr lang="nl-NL" dirty="0"/>
          </a:p>
          <a:p>
            <a:r>
              <a:rPr lang="nl-NL" dirty="0"/>
              <a:t>Welk zijvlak is het grondvlak?</a:t>
            </a:r>
          </a:p>
          <a:p>
            <a:endParaRPr lang="nl-NL" dirty="0"/>
          </a:p>
          <a:p>
            <a:r>
              <a:rPr lang="nl-NL" dirty="0"/>
              <a:t>Hoe heet dit prisma?</a:t>
            </a:r>
          </a:p>
        </p:txBody>
      </p:sp>
      <p:pic>
        <p:nvPicPr>
          <p:cNvPr id="4" name="Afbeelding 3" descr="Afbeelding met diagram, lijn, driehoek&#10;&#10;Door AI gegenereerde inhoud is mogelijk onjuist.">
            <a:extLst>
              <a:ext uri="{FF2B5EF4-FFF2-40B4-BE49-F238E27FC236}">
                <a16:creationId xmlns:a16="http://schemas.microsoft.com/office/drawing/2014/main" id="{097B2A7D-730B-4959-2332-74F02B4F431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405801" y="2404341"/>
            <a:ext cx="3409420" cy="248400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FA567BAA-1C73-547F-B167-2D43C627ABF0}"/>
              </a:ext>
            </a:extLst>
          </p:cNvPr>
          <p:cNvSpPr txBox="1"/>
          <p:nvPr/>
        </p:nvSpPr>
        <p:spPr>
          <a:xfrm>
            <a:off x="1331404" y="1845203"/>
            <a:ext cx="11234222" cy="880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sz="3200" dirty="0">
                <a:solidFill>
                  <a:srgbClr val="FF0000"/>
                </a:solidFill>
              </a:rPr>
              <a:t>Ribbe </a:t>
            </a:r>
            <a:r>
              <a:rPr lang="nl-NL" sz="3200" i="1" dirty="0">
                <a:solidFill>
                  <a:srgbClr val="FF0000"/>
                </a:solidFill>
              </a:rPr>
              <a:t>CG</a:t>
            </a:r>
            <a:r>
              <a:rPr lang="nl-NL" sz="3200" dirty="0">
                <a:solidFill>
                  <a:srgbClr val="FF0000"/>
                </a:solidFill>
              </a:rPr>
              <a:t>, ribbe </a:t>
            </a:r>
            <a:r>
              <a:rPr lang="nl-NL" sz="3200" i="1" dirty="0">
                <a:solidFill>
                  <a:srgbClr val="FF0000"/>
                </a:solidFill>
              </a:rPr>
              <a:t>FG</a:t>
            </a:r>
            <a:r>
              <a:rPr lang="nl-NL" sz="3200" dirty="0">
                <a:solidFill>
                  <a:srgbClr val="FF0000"/>
                </a:solidFill>
              </a:rPr>
              <a:t> en ribbe </a:t>
            </a:r>
            <a:r>
              <a:rPr lang="nl-NL" sz="3200" i="1" dirty="0">
                <a:solidFill>
                  <a:srgbClr val="FF0000"/>
                </a:solidFill>
              </a:rPr>
              <a:t>GH</a:t>
            </a:r>
            <a:r>
              <a:rPr lang="nl-NL" sz="3200" dirty="0">
                <a:solidFill>
                  <a:srgbClr val="FF0000"/>
                </a:solidFill>
              </a:rPr>
              <a:t> komen in </a:t>
            </a:r>
            <a:br>
              <a:rPr lang="nl-NL" sz="3200" dirty="0">
                <a:solidFill>
                  <a:srgbClr val="FF0000"/>
                </a:solidFill>
              </a:rPr>
            </a:br>
            <a:r>
              <a:rPr lang="nl-NL" sz="3200" dirty="0">
                <a:solidFill>
                  <a:srgbClr val="FF0000"/>
                </a:solidFill>
              </a:rPr>
              <a:t>hoekpunt </a:t>
            </a:r>
            <a:r>
              <a:rPr lang="nl-NL" sz="3200" i="1" dirty="0">
                <a:solidFill>
                  <a:srgbClr val="FF0000"/>
                </a:solidFill>
              </a:rPr>
              <a:t>G</a:t>
            </a:r>
            <a:r>
              <a:rPr lang="nl-NL" sz="3200" dirty="0">
                <a:solidFill>
                  <a:srgbClr val="FF0000"/>
                </a:solidFill>
              </a:rPr>
              <a:t> bij elkaar.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FE300D6-DD42-CED6-18F2-F1F568F37B7E}"/>
              </a:ext>
            </a:extLst>
          </p:cNvPr>
          <p:cNvSpPr txBox="1"/>
          <p:nvPr/>
        </p:nvSpPr>
        <p:spPr>
          <a:xfrm>
            <a:off x="1331404" y="3615702"/>
            <a:ext cx="11234222" cy="787908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sz="3200" dirty="0">
                <a:solidFill>
                  <a:srgbClr val="FF0000"/>
                </a:solidFill>
              </a:rPr>
              <a:t>4 zijvlakken hebben de vorm van </a:t>
            </a:r>
            <a:br>
              <a:rPr lang="nl-NL" sz="3200" dirty="0">
                <a:solidFill>
                  <a:srgbClr val="FF0000"/>
                </a:solidFill>
              </a:rPr>
            </a:br>
            <a:r>
              <a:rPr lang="nl-NL" sz="3200" dirty="0">
                <a:solidFill>
                  <a:srgbClr val="FF0000"/>
                </a:solidFill>
              </a:rPr>
              <a:t>een rechthoek.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1A4CB9F9-483C-5065-01B6-11DF2AD588A6}"/>
              </a:ext>
            </a:extLst>
          </p:cNvPr>
          <p:cNvSpPr txBox="1"/>
          <p:nvPr/>
        </p:nvSpPr>
        <p:spPr>
          <a:xfrm>
            <a:off x="1331404" y="5019737"/>
            <a:ext cx="11234222" cy="393954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sz="3200" dirty="0">
                <a:solidFill>
                  <a:srgbClr val="FF0000"/>
                </a:solidFill>
              </a:rPr>
              <a:t>Zijvlak </a:t>
            </a:r>
            <a:r>
              <a:rPr lang="nl-NL" sz="3200" i="1" dirty="0">
                <a:solidFill>
                  <a:srgbClr val="FF0000"/>
                </a:solidFill>
              </a:rPr>
              <a:t>ABCD</a:t>
            </a:r>
            <a:r>
              <a:rPr lang="nl-NL" sz="3200" dirty="0">
                <a:solidFill>
                  <a:srgbClr val="FF0000"/>
                </a:solidFill>
              </a:rPr>
              <a:t> (of </a:t>
            </a:r>
            <a:r>
              <a:rPr lang="nl-NL" sz="3200" i="1" dirty="0">
                <a:solidFill>
                  <a:srgbClr val="FF0000"/>
                </a:solidFill>
              </a:rPr>
              <a:t>EFGH</a:t>
            </a:r>
            <a:r>
              <a:rPr lang="nl-NL" sz="3200" dirty="0">
                <a:solidFill>
                  <a:srgbClr val="FF0000"/>
                </a:solidFill>
              </a:rPr>
              <a:t>) is het grondvlak.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138038E0-7B49-B86E-78EA-C59C6CCF67FA}"/>
              </a:ext>
            </a:extLst>
          </p:cNvPr>
          <p:cNvSpPr txBox="1"/>
          <p:nvPr/>
        </p:nvSpPr>
        <p:spPr>
          <a:xfrm>
            <a:off x="1331404" y="5976325"/>
            <a:ext cx="7291388" cy="393954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sv-SE" sz="3200" dirty="0">
                <a:solidFill>
                  <a:srgbClr val="FF0000"/>
                </a:solidFill>
              </a:rPr>
              <a:t>Dit prisma heet </a:t>
            </a:r>
            <a:r>
              <a:rPr lang="sv-SE" sz="3200" i="1" dirty="0">
                <a:solidFill>
                  <a:srgbClr val="FF0000"/>
                </a:solidFill>
              </a:rPr>
              <a:t>prisma</a:t>
            </a:r>
            <a:r>
              <a:rPr lang="sv-SE" sz="3200" dirty="0">
                <a:solidFill>
                  <a:srgbClr val="FF0000"/>
                </a:solidFill>
              </a:rPr>
              <a:t> </a:t>
            </a:r>
            <a:r>
              <a:rPr lang="sv-SE" sz="3200" i="1" dirty="0">
                <a:solidFill>
                  <a:srgbClr val="FF0000"/>
                </a:solidFill>
              </a:rPr>
              <a:t>ABCD EFGH</a:t>
            </a:r>
            <a:r>
              <a:rPr lang="sv-SE" sz="3200" dirty="0">
                <a:solidFill>
                  <a:srgbClr val="FF0000"/>
                </a:solidFill>
              </a:rPr>
              <a:t>.</a:t>
            </a:r>
            <a:endParaRPr lang="nl-NL" sz="3200" dirty="0">
              <a:solidFill>
                <a:srgbClr val="FF0000"/>
              </a:solidFill>
            </a:endParaRP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D1BDDC5-8E37-1218-E48E-72BAB8D6E015}"/>
              </a:ext>
            </a:extLst>
          </p:cNvPr>
          <p:cNvSpPr txBox="1"/>
          <p:nvPr/>
        </p:nvSpPr>
        <p:spPr>
          <a:xfrm>
            <a:off x="356234" y="2000495"/>
            <a:ext cx="816484" cy="2215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4836B3E8-6455-6F30-E4D9-E36A5FDDBFBA}"/>
              </a:ext>
            </a:extLst>
          </p:cNvPr>
          <p:cNvSpPr txBox="1"/>
          <p:nvPr/>
        </p:nvSpPr>
        <p:spPr>
          <a:xfrm>
            <a:off x="356234" y="3700570"/>
            <a:ext cx="816484" cy="2215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E9D8393E-C7B6-0D50-5D67-80BF41EBCEC6}"/>
              </a:ext>
            </a:extLst>
          </p:cNvPr>
          <p:cNvSpPr txBox="1"/>
          <p:nvPr/>
        </p:nvSpPr>
        <p:spPr>
          <a:xfrm>
            <a:off x="356234" y="5136325"/>
            <a:ext cx="816484" cy="2215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F772F19B-CDCF-4FF2-3BAD-007DECEE572E}"/>
              </a:ext>
            </a:extLst>
          </p:cNvPr>
          <p:cNvSpPr txBox="1"/>
          <p:nvPr/>
        </p:nvSpPr>
        <p:spPr>
          <a:xfrm>
            <a:off x="356234" y="6091214"/>
            <a:ext cx="816484" cy="221599"/>
          </a:xfrm>
          <a:prstGeom prst="rect">
            <a:avLst/>
          </a:prstGeom>
          <a:noFill/>
        </p:spPr>
        <p:txBody>
          <a:bodyPr wrap="square" tIns="0" bIns="0" rtlCol="0">
            <a:spAutoFit/>
          </a:bodyPr>
          <a:lstStyle/>
          <a:p>
            <a:pPr>
              <a:lnSpc>
                <a:spcPct val="80000"/>
              </a:lnSpc>
              <a:spcBef>
                <a:spcPts val="1000"/>
              </a:spcBef>
            </a:pPr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5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9120761" y="5329837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– 2</a:t>
            </a:r>
            <a:endParaRPr lang="nl-NL" dirty="0"/>
          </a:p>
          <a:p>
            <a:r>
              <a:rPr lang="nl-NL" dirty="0"/>
              <a:t>3</a:t>
            </a:r>
          </a:p>
          <a:p>
            <a:r>
              <a:rPr lang="nl-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0402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Props1.xml><?xml version="1.0" encoding="utf-8"?>
<ds:datastoreItem xmlns:ds="http://schemas.openxmlformats.org/officeDocument/2006/customXml" ds:itemID="{D1BE95C5-510C-4C52-AED6-3AD718257E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64C4E7A-E4B6-4A32-8CEB-6FECCB43B894}">
  <ds:schemaRefs>
    <ds:schemaRef ds:uri="d27e653b-d318-4ef3-ba38-8d23e212adcb"/>
    <ds:schemaRef ds:uri="271569a7-1784-4b50-bede-f81c246730b5"/>
    <ds:schemaRef ds:uri="http://schemas.microsoft.com/office/2006/documentManagement/types"/>
    <ds:schemaRef ds:uri="http://purl.org/dc/terms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100</TotalTime>
  <Words>418</Words>
  <Application>Microsoft Office PowerPoint</Application>
  <PresentationFormat>Breedbeeld</PresentationFormat>
  <Paragraphs>96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David Hoksbergen</cp:lastModifiedBy>
  <cp:revision>6</cp:revision>
  <dcterms:created xsi:type="dcterms:W3CDTF">2025-10-31T09:27:20Z</dcterms:created>
  <dcterms:modified xsi:type="dcterms:W3CDTF">2026-02-24T08:18:51Z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