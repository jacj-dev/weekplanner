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0" r:id="rId5"/>
    <p:sldId id="267" r:id="rId6"/>
    <p:sldId id="275" r:id="rId7"/>
    <p:sldId id="276" r:id="rId8"/>
    <p:sldId id="277" r:id="rId9"/>
    <p:sldId id="274" r:id="rId10"/>
    <p:sldId id="278" r:id="rId11"/>
    <p:sldId id="269" r:id="rId12"/>
    <p:sldId id="279" r:id="rId13"/>
    <p:sldId id="280" r:id="rId14"/>
    <p:sldId id="281" r:id="rId15"/>
    <p:sldId id="272" r:id="rId16"/>
    <p:sldId id="282" r:id="rId17"/>
  </p:sldIdLst>
  <p:sldSz cx="12192000" cy="6858000"/>
  <p:notesSz cx="6858000" cy="9144000"/>
  <p:embeddedFontLst>
    <p:embeddedFont>
      <p:font typeface="Tahoma" panose="020B0604030504040204" pitchFamily="34" charset="0"/>
      <p:regular r:id="rId20"/>
      <p:bold r:id="rId2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978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18:05.176" v="25" actId="1037"/>
      <pc:docMkLst>
        <pc:docMk/>
      </pc:docMkLst>
      <pc:sldChg chg="modSp mod">
        <pc:chgData name="David Hoksbergen" userId="fea57724-933b-4009-85de-d6e631dbc231" providerId="ADAL" clId="{0593DD17-017D-4879-923D-48F6DB4E361D}" dt="2026-02-24T08:18:05.176" v="25" actId="1037"/>
        <pc:sldMkLst>
          <pc:docMk/>
          <pc:sldMk cId="2135325518" sldId="282"/>
        </pc:sldMkLst>
        <pc:spChg chg="mod">
          <ac:chgData name="David Hoksbergen" userId="fea57724-933b-4009-85de-d6e631dbc231" providerId="ADAL" clId="{0593DD17-017D-4879-923D-48F6DB4E361D}" dt="2026-02-24T08:18:05.176" v="25" actId="1037"/>
          <ac:spMkLst>
            <pc:docMk/>
            <pc:sldMk cId="2135325518" sldId="282"/>
            <ac:spMk id="10" creationId="{96060B9C-3292-C36A-8930-34666705A278}"/>
          </ac:spMkLst>
        </pc:spChg>
        <pc:spChg chg="mod">
          <ac:chgData name="David Hoksbergen" userId="fea57724-933b-4009-85de-d6e631dbc231" providerId="ADAL" clId="{0593DD17-017D-4879-923D-48F6DB4E361D}" dt="2026-02-24T08:18:05.176" v="25" actId="1037"/>
          <ac:spMkLst>
            <pc:docMk/>
            <pc:sldMk cId="2135325518" sldId="282"/>
            <ac:spMk id="11" creationId="{54ACB47E-F122-E4A9-E8CF-6767B9A4B1FC}"/>
          </ac:spMkLst>
        </pc:spChg>
        <pc:spChg chg="mod">
          <ac:chgData name="David Hoksbergen" userId="fea57724-933b-4009-85de-d6e631dbc231" providerId="ADAL" clId="{0593DD17-017D-4879-923D-48F6DB4E361D}" dt="2026-02-24T08:18:05.176" v="25" actId="1037"/>
          <ac:spMkLst>
            <pc:docMk/>
            <pc:sldMk cId="2135325518" sldId="282"/>
            <ac:spMk id="12" creationId="{64AD8D9A-9EEA-7D71-78AD-AE58590F7F6F}"/>
          </ac:spMkLst>
        </pc:spChg>
        <pc:spChg chg="mod">
          <ac:chgData name="David Hoksbergen" userId="fea57724-933b-4009-85de-d6e631dbc231" providerId="ADAL" clId="{0593DD17-017D-4879-923D-48F6DB4E361D}" dt="2026-02-24T08:18:05.176" v="25" actId="1037"/>
          <ac:spMkLst>
            <pc:docMk/>
            <pc:sldMk cId="2135325518" sldId="282"/>
            <ac:spMk id="13" creationId="{B205A802-04E4-4630-D4B6-0EE4D9A9BF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1.5 Piramide en prisma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L Piramide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Is dit een piramide?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594794" y="1340750"/>
            <a:ext cx="1115514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4331" y="1926399"/>
            <a:ext cx="13537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4330" y="3206827"/>
            <a:ext cx="123060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20682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D8EF09-6BB7-A9C2-70B9-8E493889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99185" y="1739827"/>
            <a:ext cx="4704000" cy="3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5678-14A0-44E0-5542-E9E99122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7196A2FF-DED6-2B5E-3995-AFEBF493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191E3BE-55E1-8015-446D-1072ED4378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143017" cy="4695189"/>
          </a:xfrm>
        </p:spPr>
        <p:txBody>
          <a:bodyPr/>
          <a:lstStyle/>
          <a:p>
            <a:r>
              <a:rPr lang="nl-NL" dirty="0"/>
              <a:t>Heeft het gebouw de vorm van een piramide?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A58E0CB-BA9A-482C-B75F-EB20C8088F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594794" y="1340750"/>
            <a:ext cx="1115514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770149A-A3C3-2126-7D3F-8814B6FFB9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8189D88-09AC-6135-82D8-9FFAC7C575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4331" y="1926399"/>
            <a:ext cx="13537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4A7DAA0-264D-5F93-D260-CF72C9EBA6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4330" y="3206827"/>
            <a:ext cx="123060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BA910CC-BB78-77AB-7EB9-200B2004E4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20682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43252F4-BF29-7B31-6E4D-CE31905BB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67" r="13067"/>
          <a:stretch/>
        </p:blipFill>
        <p:spPr>
          <a:xfrm>
            <a:off x="6175131" y="2059018"/>
            <a:ext cx="3478823" cy="31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9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D473-AFED-ACB2-ABBA-CB7D0552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06C2B4F-1D63-6652-DBFE-1A112E12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A0D5D1-344D-DDB5-F4B7-99A8FEBFB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143017" cy="4695189"/>
          </a:xfrm>
        </p:spPr>
        <p:txBody>
          <a:bodyPr/>
          <a:lstStyle/>
          <a:p>
            <a:r>
              <a:rPr lang="nl-NL" dirty="0"/>
              <a:t>Heeft het gebouw de vorm van een piramide?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7DB3057-4C92-ED8D-E376-7A97B8D098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703276" y="2621178"/>
            <a:ext cx="1115514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94AC52B-ADD4-BF23-7011-CB3FCF0D1E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129F33A-5AAC-9361-5084-0ED82D3335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4331" y="1926399"/>
            <a:ext cx="13537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E44CF5E-72EA-1574-E341-A2BB75660A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4330" y="3206827"/>
            <a:ext cx="123060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693143AE-9DF9-60E5-65E0-74951C9D60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20682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EFC749A-1B26-0B49-8C98-8315FDCA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8" r="12558"/>
          <a:stretch/>
        </p:blipFill>
        <p:spPr>
          <a:xfrm>
            <a:off x="6175131" y="2059018"/>
            <a:ext cx="3478823" cy="31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0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D1D75-47D3-8076-4B66-72D40C4C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414C0E5-7619-F546-947F-8DF85246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3A086A7-6DEC-0708-F968-A9D9C47243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143017" cy="4695189"/>
          </a:xfrm>
        </p:spPr>
        <p:txBody>
          <a:bodyPr/>
          <a:lstStyle/>
          <a:p>
            <a:r>
              <a:rPr lang="nl-NL" dirty="0"/>
              <a:t>Heeft het gebouw de vorm van een piramide?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1D87A1-E8F6-4CB4-885A-89068FDA5E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603143" y="1340750"/>
            <a:ext cx="1115514" cy="176529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A361324-BEE7-5B03-1259-A0D8B8A7B2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43EFEBB3-41E8-7001-4C83-4EE29004E7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4331" y="1926399"/>
            <a:ext cx="1353700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9E35F1A-4DBB-7075-E128-8D4B731210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54330" y="3206827"/>
            <a:ext cx="123060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2E111E68-88D8-63A6-256F-FE48EA0BC4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20682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CCFE929-FC4D-9EDA-A0CA-3AF6C9B9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9377" y="2224838"/>
            <a:ext cx="5164415" cy="34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6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5661-F846-3128-19E2-D3951847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9F8468D-2B04-3DC6-3671-C980962B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BD61FB3-DE6A-87E7-746A-E5AFEDAB71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6753832" cy="4695189"/>
          </a:xfrm>
        </p:spPr>
        <p:txBody>
          <a:bodyPr/>
          <a:lstStyle/>
          <a:p>
            <a:r>
              <a:rPr lang="nl-NL" dirty="0"/>
              <a:t>Welke twee ruimtefiguren herken je?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546B1E9-040B-BD2B-C512-DF500DF2D4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797252" y="915658"/>
            <a:ext cx="1115514" cy="424055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BF9360E-6D25-5769-1B2D-C916A565C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10B153C-3D7B-514B-B05D-30C1399DD8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92784" y="1926399"/>
            <a:ext cx="3736416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 en kubus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8F7040B-6B8C-A8C6-3F54-FCD061D18A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19162" y="2747975"/>
            <a:ext cx="37100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 en piramide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94DF5288-F37B-0077-9FB8-1FE20EF7BD5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92784" y="3575520"/>
            <a:ext cx="373641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 en kegel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88AE34D1-256D-49B1-B637-4CF02A2D95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2785" y="4403065"/>
            <a:ext cx="373641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kubus en 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99BE5C7-20C2-2787-270B-9B0883D4F1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479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1884F4F-BCBE-FE19-E04F-D5194169E66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7552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8C023E1B-074B-9DFA-684E-66AA19F762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40306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5208552-EA0D-3322-78AA-9AD02728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83823" y="1973520"/>
            <a:ext cx="4806000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6A2B-2240-DDB9-5C0D-384EADEB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089211D-AF83-125A-36D2-AAF30568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A285A43-AEBF-2354-CF1D-AE5084731D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6753832" cy="4695189"/>
          </a:xfrm>
        </p:spPr>
        <p:txBody>
          <a:bodyPr/>
          <a:lstStyle/>
          <a:p>
            <a:r>
              <a:rPr lang="nl-NL" dirty="0"/>
              <a:t>Welke twee ruimtefiguren herken je?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572298C-D836-98C0-5D43-124D199688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742531" y="1752244"/>
            <a:ext cx="1115514" cy="424055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B7192F8-D9D4-6A76-EDDD-DB40CB0ADB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26399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4C4ECB86-CE71-D227-7793-860F84F70E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92784" y="1926399"/>
            <a:ext cx="3736416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 en bol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8EF302B-E38F-62E6-B6C6-DE9F203C653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19162" y="2747975"/>
            <a:ext cx="37100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balk en cilinder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DEFE1CF3-20E6-F668-FF59-DAC8EE946E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92784" y="3575520"/>
            <a:ext cx="373641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 en bol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3A646BFB-F418-9B70-BC6C-0DAC87E6B3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2785" y="4403065"/>
            <a:ext cx="373641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cilinder en kegel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3D651BE7-4769-9638-169A-C643D4341FD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74797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A37BA257-E870-34A6-D2AC-31D6D7DAC7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57552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9699F09B-834A-D650-53BD-8751BB2BE56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403065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7D528FA-1A3F-E5B1-87DA-A7229185D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49092" y="1797674"/>
            <a:ext cx="2781000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6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10213312" cy="4159714"/>
          </a:xfrm>
        </p:spPr>
        <p:txBody>
          <a:bodyPr/>
          <a:lstStyle/>
          <a:p>
            <a:r>
              <a:rPr lang="nl-NL" dirty="0"/>
              <a:t>De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piramide</a:t>
            </a:r>
            <a:r>
              <a:rPr lang="nl-NL" dirty="0"/>
              <a:t> hiernaast heeft</a:t>
            </a:r>
          </a:p>
          <a:p>
            <a:r>
              <a:rPr lang="nl-NL" dirty="0"/>
              <a:t>• 5 hoekpunten</a:t>
            </a:r>
          </a:p>
          <a:p>
            <a:r>
              <a:rPr lang="nl-NL" dirty="0"/>
              <a:t>• 8 ribben</a:t>
            </a:r>
          </a:p>
          <a:p>
            <a:r>
              <a:rPr lang="nl-NL" dirty="0"/>
              <a:t>• 5 platte zijvlakken.</a:t>
            </a:r>
          </a:p>
          <a:p>
            <a:endParaRPr lang="nl-NL" dirty="0"/>
          </a:p>
          <a:p>
            <a:r>
              <a:rPr lang="nl-NL" dirty="0"/>
              <a:t>Vier zijvlakken hebben de vorm van een driehoek. </a:t>
            </a:r>
          </a:p>
          <a:p>
            <a:r>
              <a:rPr lang="nl-NL" dirty="0"/>
              <a:t>Eén zijvlak heeft de vorm van een vierkant.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5F973CD4-40FC-50E1-DFEC-3DC87DBB5325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2578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L Piramide</a:t>
            </a:r>
          </a:p>
        </p:txBody>
      </p:sp>
      <p:pic>
        <p:nvPicPr>
          <p:cNvPr id="5" name="Afbeelding 4" descr="Afbeelding met driehoek, lijn, diagram&#10;&#10;Door AI gegenereerde inhoud is mogelijk onjuist.">
            <a:extLst>
              <a:ext uri="{FF2B5EF4-FFF2-40B4-BE49-F238E27FC236}">
                <a16:creationId xmlns:a16="http://schemas.microsoft.com/office/drawing/2014/main" id="{435E7444-F417-F04C-D1C3-1786F54F72E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1032" y="898864"/>
            <a:ext cx="3930270" cy="29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338B-B0CF-3052-C89E-4FC33D8B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2950B9-E92B-B5C9-D417-7CDF0137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7080B0E0-5E94-4403-31D2-DF2C8A61FD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10213312" cy="4159714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Bij de </a:t>
            </a:r>
            <a:r>
              <a:rPr lang="nl-NL" b="1" dirty="0">
                <a:solidFill>
                  <a:srgbClr val="00B0F0"/>
                </a:solidFill>
              </a:rPr>
              <a:t>top</a:t>
            </a:r>
            <a:r>
              <a:rPr lang="nl-NL" dirty="0"/>
              <a:t> van de piramide staat de hoofdletter </a:t>
            </a:r>
            <a:r>
              <a:rPr lang="nl-NL" i="1" dirty="0"/>
              <a:t>T</a:t>
            </a:r>
            <a:r>
              <a:rPr lang="nl-NL" dirty="0"/>
              <a:t>.</a:t>
            </a:r>
          </a:p>
          <a:p>
            <a:r>
              <a:rPr lang="nl-NL" dirty="0"/>
              <a:t>Het zijvlak tegenover de top is het</a:t>
            </a:r>
          </a:p>
          <a:p>
            <a:r>
              <a:rPr lang="nl-NL" b="1" dirty="0">
                <a:solidFill>
                  <a:srgbClr val="00B0F0"/>
                </a:solidFill>
              </a:rPr>
              <a:t>grondvlak</a:t>
            </a:r>
            <a:r>
              <a:rPr lang="nl-NL" dirty="0"/>
              <a:t>. </a:t>
            </a:r>
          </a:p>
          <a:p>
            <a:r>
              <a:rPr lang="nl-NL" dirty="0"/>
              <a:t>Hier is dat zijvlak </a:t>
            </a:r>
            <a:r>
              <a:rPr lang="nl-NL" i="1" dirty="0"/>
              <a:t>ABCD</a:t>
            </a:r>
            <a:r>
              <a:rPr lang="nl-NL" dirty="0"/>
              <a:t>.</a:t>
            </a:r>
          </a:p>
          <a:p>
            <a:r>
              <a:rPr lang="nl-NL" dirty="0"/>
              <a:t>De piramide heet </a:t>
            </a:r>
            <a:r>
              <a:rPr lang="nl-NL" i="1" dirty="0"/>
              <a:t>piramide T ABCD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Zijvlak </a:t>
            </a:r>
            <a:r>
              <a:rPr lang="nl-NL" i="1" dirty="0"/>
              <a:t>DCT</a:t>
            </a:r>
            <a:r>
              <a:rPr lang="nl-NL" dirty="0"/>
              <a:t> is rood gekleurd.</a:t>
            </a:r>
          </a:p>
          <a:p>
            <a:r>
              <a:rPr lang="nl-NL" dirty="0"/>
              <a:t>Ribbe </a:t>
            </a:r>
            <a:r>
              <a:rPr lang="nl-NL" i="1" dirty="0"/>
              <a:t>AT</a:t>
            </a:r>
            <a:r>
              <a:rPr lang="nl-NL" dirty="0"/>
              <a:t> is blauw gekleurd.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84539E91-F76F-1B33-AA41-BA4AA79D759C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2578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L Piramide</a:t>
            </a:r>
          </a:p>
        </p:txBody>
      </p:sp>
      <p:pic>
        <p:nvPicPr>
          <p:cNvPr id="5" name="Afbeelding 4" descr="Afbeelding met driehoek, lijn, diagram&#10;&#10;Door AI gegenereerde inhoud is mogelijk onjuist.">
            <a:extLst>
              <a:ext uri="{FF2B5EF4-FFF2-40B4-BE49-F238E27FC236}">
                <a16:creationId xmlns:a16="http://schemas.microsoft.com/office/drawing/2014/main" id="{D4999917-0A40-547D-2C27-EE961F1DD6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1032" y="898864"/>
            <a:ext cx="3930270" cy="29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5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ECEE-6516-FD6E-0425-D04BDF70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CA208AC-075C-2B1E-257C-8CFF6126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389C1B72-ED0F-A5B7-3701-CD6CA58D4B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2620107"/>
            <a:ext cx="10213312" cy="2655277"/>
          </a:xfrm>
        </p:spPr>
        <p:txBody>
          <a:bodyPr>
            <a:normAutofit/>
          </a:bodyPr>
          <a:lstStyle/>
          <a:p>
            <a:r>
              <a:rPr lang="nl-NL" dirty="0"/>
              <a:t>Hierboven zie je vijf verschillende piramiden. </a:t>
            </a:r>
          </a:p>
          <a:p>
            <a:r>
              <a:rPr lang="nl-NL" dirty="0"/>
              <a:t>Het grondvlak van de piramiden is blauw gekleurd en ligt altijd tegenover de top. </a:t>
            </a:r>
          </a:p>
          <a:p>
            <a:r>
              <a:rPr lang="nl-NL" dirty="0"/>
              <a:t>Je ziet dat een piramide niet altijd op het grondvlak staat. </a:t>
            </a:r>
          </a:p>
          <a:p>
            <a:r>
              <a:rPr lang="nl-NL" dirty="0"/>
              <a:t>De top is dus niet altijd bovenaan.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CE4530E9-7D6C-60A3-94C1-3B89B2519AD0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2578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L Piramide</a:t>
            </a:r>
          </a:p>
        </p:txBody>
      </p:sp>
      <p:pic>
        <p:nvPicPr>
          <p:cNvPr id="6" name="Afbeelding 5" descr="Afbeelding met schets, diagram, lijn, origami&#10;&#10;Door AI gegenereerde inhoud is mogelijk onjuist.">
            <a:extLst>
              <a:ext uri="{FF2B5EF4-FFF2-40B4-BE49-F238E27FC236}">
                <a16:creationId xmlns:a16="http://schemas.microsoft.com/office/drawing/2014/main" id="{E5B387F9-0737-BE4F-8768-A33D79E20E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8380" y="898864"/>
            <a:ext cx="6633615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2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2BAE-8096-F11A-FCEE-EB7441A9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E137C4E-C3B7-6F7C-EA9F-8CB23072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CEF89CAE-73DB-FBDC-D562-360B43F787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82459"/>
            <a:ext cx="10213312" cy="4092925"/>
          </a:xfrm>
        </p:spPr>
        <p:txBody>
          <a:bodyPr/>
          <a:lstStyle/>
          <a:p>
            <a:r>
              <a:rPr lang="nl-NL" dirty="0"/>
              <a:t>Bij een uitslag van een piramide zie je vaak het grondvlak in het midden en de driehoekige zijvlakken er omheen.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288294D-3C33-930A-DF0F-F9A0DF2E15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527545"/>
            <a:ext cx="10811189" cy="429567"/>
          </a:xfrm>
        </p:spPr>
        <p:txBody>
          <a:bodyPr>
            <a:normAutofit/>
          </a:bodyPr>
          <a:lstStyle/>
          <a:p>
            <a:r>
              <a:rPr lang="nl-NL" b="1" dirty="0"/>
              <a:t>Leerdoel</a:t>
            </a:r>
            <a:r>
              <a:rPr lang="nl-NL" dirty="0"/>
              <a:t>  Je kunt de top, de ribben en de zijvlakken van een piramide met letters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323B04F3-0A06-0CE7-5AD7-B3ED9FDADA73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2578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L Piramide</a:t>
            </a:r>
          </a:p>
        </p:txBody>
      </p:sp>
      <p:pic>
        <p:nvPicPr>
          <p:cNvPr id="5" name="Afbeelding 4" descr="Afbeelding met lijn, diagram, driehoek, origami&#10;&#10;Door AI gegenereerde inhoud is mogelijk onjuist.">
            <a:extLst>
              <a:ext uri="{FF2B5EF4-FFF2-40B4-BE49-F238E27FC236}">
                <a16:creationId xmlns:a16="http://schemas.microsoft.com/office/drawing/2014/main" id="{249804A9-F02C-2234-370D-8CC0C0570F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23763" y="2284619"/>
            <a:ext cx="3740362" cy="299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3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Testopgave Piramide (blz. 55)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726746" cy="4186752"/>
          </a:xfrm>
        </p:spPr>
        <p:txBody>
          <a:bodyPr/>
          <a:lstStyle/>
          <a:p>
            <a:r>
              <a:rPr lang="nl-NL" dirty="0"/>
              <a:t>Welk zijvlak is blauw gekleurd?</a:t>
            </a:r>
          </a:p>
          <a:p>
            <a:r>
              <a:rPr lang="nl-NL" dirty="0"/>
              <a:t>Welke ribben komen in hoekpunt </a:t>
            </a:r>
            <a:r>
              <a:rPr lang="nl-NL" i="1" dirty="0"/>
              <a:t>D </a:t>
            </a:r>
            <a:r>
              <a:rPr lang="nl-NL" dirty="0"/>
              <a:t>bij elkaar?</a:t>
            </a:r>
          </a:p>
          <a:p>
            <a:r>
              <a:rPr lang="nl-NL" dirty="0"/>
              <a:t>Welk zijvlak is het grondvlak?</a:t>
            </a:r>
          </a:p>
          <a:p>
            <a:r>
              <a:rPr lang="nl-NL" dirty="0"/>
              <a:t>Hoe heet deze piramide?</a:t>
            </a:r>
          </a:p>
        </p:txBody>
      </p:sp>
      <p:pic>
        <p:nvPicPr>
          <p:cNvPr id="4" name="Afbeelding 3" descr="Afbeelding met driehoek, lijn&#10;&#10;Door AI gegenereerde inhoud is mogelijk onjuist.">
            <a:extLst>
              <a:ext uri="{FF2B5EF4-FFF2-40B4-BE49-F238E27FC236}">
                <a16:creationId xmlns:a16="http://schemas.microsoft.com/office/drawing/2014/main" id="{D118D486-29D5-8219-4AFF-FD0BFA8FCE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5047" y="2627174"/>
            <a:ext cx="3267280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CBBE-D1E8-7596-F3E3-3E6FAA9D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66C0995-5156-254C-28F7-B608B867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BFBD3BF-DB87-3455-9666-689AB54EF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634592"/>
            <a:ext cx="5472112" cy="739260"/>
          </a:xfrm>
        </p:spPr>
        <p:txBody>
          <a:bodyPr/>
          <a:lstStyle/>
          <a:p>
            <a:r>
              <a:rPr lang="nl-NL" dirty="0"/>
              <a:t>Testopgave Piramide (blz. 55)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F43C73E-1744-9418-F9AD-F9F588C7E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335624"/>
            <a:ext cx="8726746" cy="418675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Welk zijvlak is blauw gekleurd?</a:t>
            </a:r>
          </a:p>
          <a:p>
            <a:endParaRPr lang="nl-NL" dirty="0"/>
          </a:p>
          <a:p>
            <a:r>
              <a:rPr lang="nl-NL" dirty="0"/>
              <a:t>Welke ribben komen in hoekpunt </a:t>
            </a:r>
            <a:r>
              <a:rPr lang="nl-NL" i="1" dirty="0"/>
              <a:t>D </a:t>
            </a:r>
            <a:r>
              <a:rPr lang="nl-NL" dirty="0"/>
              <a:t>bij elkaar?</a:t>
            </a:r>
          </a:p>
          <a:p>
            <a:endParaRPr lang="nl-NL" dirty="0"/>
          </a:p>
          <a:p>
            <a:pPr>
              <a:lnSpc>
                <a:spcPct val="200000"/>
              </a:lnSpc>
            </a:pPr>
            <a:r>
              <a:rPr lang="nl-NL" dirty="0"/>
              <a:t>Welk zijvlak is het grondvlak?</a:t>
            </a:r>
          </a:p>
          <a:p>
            <a:endParaRPr lang="nl-NL" dirty="0"/>
          </a:p>
          <a:p>
            <a:r>
              <a:rPr lang="nl-NL" dirty="0"/>
              <a:t>Hoe heet deze piramide?</a:t>
            </a:r>
          </a:p>
        </p:txBody>
      </p:sp>
      <p:pic>
        <p:nvPicPr>
          <p:cNvPr id="4" name="Afbeelding 3" descr="Afbeelding met driehoek, lijn&#10;&#10;Door AI gegenereerde inhoud is mogelijk onjuist.">
            <a:extLst>
              <a:ext uri="{FF2B5EF4-FFF2-40B4-BE49-F238E27FC236}">
                <a16:creationId xmlns:a16="http://schemas.microsoft.com/office/drawing/2014/main" id="{C9C71279-3B94-8E7C-05A3-AA19FE353C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5047" y="2627174"/>
            <a:ext cx="3267280" cy="334800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F364724F-650A-14C4-AB69-82FF8F880208}"/>
              </a:ext>
            </a:extLst>
          </p:cNvPr>
          <p:cNvSpPr txBox="1"/>
          <p:nvPr/>
        </p:nvSpPr>
        <p:spPr>
          <a:xfrm>
            <a:off x="1345244" y="1659841"/>
            <a:ext cx="695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Zijvlak </a:t>
            </a:r>
            <a:r>
              <a:rPr lang="nl-NL" sz="3200" i="1" dirty="0">
                <a:solidFill>
                  <a:srgbClr val="FF0000"/>
                </a:solidFill>
              </a:rPr>
              <a:t>ABT</a:t>
            </a:r>
            <a:r>
              <a:rPr lang="nl-NL" sz="3200" dirty="0">
                <a:solidFill>
                  <a:srgbClr val="FF0000"/>
                </a:solidFill>
              </a:rPr>
              <a:t> is blauw gekleurd.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76B7F41-8DD9-DA6F-ACCA-A9F0786ADA3F}"/>
              </a:ext>
            </a:extLst>
          </p:cNvPr>
          <p:cNvSpPr txBox="1"/>
          <p:nvPr/>
        </p:nvSpPr>
        <p:spPr>
          <a:xfrm>
            <a:off x="1345244" y="2676498"/>
            <a:ext cx="74498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Ribbe </a:t>
            </a:r>
            <a:r>
              <a:rPr lang="nl-NL" sz="3200" i="1" dirty="0">
                <a:solidFill>
                  <a:srgbClr val="FF0000"/>
                </a:solidFill>
              </a:rPr>
              <a:t>CD</a:t>
            </a:r>
            <a:r>
              <a:rPr lang="nl-NL" sz="3200" dirty="0">
                <a:solidFill>
                  <a:srgbClr val="FF0000"/>
                </a:solidFill>
              </a:rPr>
              <a:t>, ribbe </a:t>
            </a:r>
            <a:r>
              <a:rPr lang="nl-NL" sz="3200" i="1" dirty="0">
                <a:solidFill>
                  <a:srgbClr val="FF0000"/>
                </a:solidFill>
              </a:rPr>
              <a:t>DE</a:t>
            </a:r>
            <a:r>
              <a:rPr lang="nl-NL" sz="3200" dirty="0">
                <a:solidFill>
                  <a:srgbClr val="FF0000"/>
                </a:solidFill>
              </a:rPr>
              <a:t> en ribbe </a:t>
            </a:r>
            <a:r>
              <a:rPr lang="nl-NL" sz="3200" i="1" dirty="0">
                <a:solidFill>
                  <a:srgbClr val="FF0000"/>
                </a:solidFill>
              </a:rPr>
              <a:t>DT</a:t>
            </a:r>
            <a:r>
              <a:rPr lang="nl-NL" sz="3200" dirty="0">
                <a:solidFill>
                  <a:srgbClr val="FF0000"/>
                </a:solidFill>
              </a:rPr>
              <a:t> komen in hoekpunt </a:t>
            </a:r>
            <a:r>
              <a:rPr lang="nl-NL" sz="3200" i="1" dirty="0">
                <a:solidFill>
                  <a:srgbClr val="FF0000"/>
                </a:solidFill>
              </a:rPr>
              <a:t>D</a:t>
            </a:r>
            <a:r>
              <a:rPr lang="nl-NL" sz="3200" dirty="0">
                <a:solidFill>
                  <a:srgbClr val="FF0000"/>
                </a:solidFill>
              </a:rPr>
              <a:t> bij elkaar.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324A7F5-E98B-B89B-D328-97D1B12AC34B}"/>
              </a:ext>
            </a:extLst>
          </p:cNvPr>
          <p:cNvSpPr txBox="1"/>
          <p:nvPr/>
        </p:nvSpPr>
        <p:spPr>
          <a:xfrm>
            <a:off x="1345244" y="4162360"/>
            <a:ext cx="695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Zijvlak </a:t>
            </a:r>
            <a:r>
              <a:rPr lang="nl-NL" sz="3200" i="1" dirty="0">
                <a:solidFill>
                  <a:srgbClr val="FF0000"/>
                </a:solidFill>
              </a:rPr>
              <a:t>ABCDE</a:t>
            </a:r>
            <a:r>
              <a:rPr lang="nl-NL" sz="3200" dirty="0">
                <a:solidFill>
                  <a:srgbClr val="FF0000"/>
                </a:solidFill>
              </a:rPr>
              <a:t> is het grondvlak.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5421D544-9E98-9038-F9D0-F684CA5462FA}"/>
              </a:ext>
            </a:extLst>
          </p:cNvPr>
          <p:cNvSpPr txBox="1"/>
          <p:nvPr/>
        </p:nvSpPr>
        <p:spPr>
          <a:xfrm>
            <a:off x="1345244" y="5308938"/>
            <a:ext cx="695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Deze piramide heet </a:t>
            </a:r>
            <a:r>
              <a:rPr lang="nl-NL" sz="3200" i="1" dirty="0">
                <a:solidFill>
                  <a:srgbClr val="FF0000"/>
                </a:solidFill>
              </a:rPr>
              <a:t>piramide</a:t>
            </a:r>
            <a:r>
              <a:rPr lang="nl-NL" sz="3200" dirty="0">
                <a:solidFill>
                  <a:srgbClr val="FF0000"/>
                </a:solidFill>
              </a:rPr>
              <a:t> </a:t>
            </a:r>
            <a:r>
              <a:rPr lang="nl-NL" sz="3200" i="1" dirty="0">
                <a:solidFill>
                  <a:srgbClr val="FF0000"/>
                </a:solidFill>
              </a:rPr>
              <a:t>T ABCDE</a:t>
            </a:r>
            <a:r>
              <a:rPr lang="nl-NL" sz="32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96060B9C-3292-C36A-8930-34666705A278}"/>
              </a:ext>
            </a:extLst>
          </p:cNvPr>
          <p:cNvSpPr txBox="1"/>
          <p:nvPr/>
        </p:nvSpPr>
        <p:spPr>
          <a:xfrm>
            <a:off x="384597" y="1832120"/>
            <a:ext cx="50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54ACB47E-F122-E4A9-E8CF-6767B9A4B1FC}"/>
              </a:ext>
            </a:extLst>
          </p:cNvPr>
          <p:cNvSpPr txBox="1"/>
          <p:nvPr/>
        </p:nvSpPr>
        <p:spPr>
          <a:xfrm>
            <a:off x="384597" y="2826290"/>
            <a:ext cx="50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4AD8D9A-9EEA-7D71-78AD-AE58590F7F6F}"/>
              </a:ext>
            </a:extLst>
          </p:cNvPr>
          <p:cNvSpPr txBox="1"/>
          <p:nvPr/>
        </p:nvSpPr>
        <p:spPr>
          <a:xfrm>
            <a:off x="384597" y="4325704"/>
            <a:ext cx="50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205A802-04E4-4630-D4B6-0EE4D9A9BFE0}"/>
              </a:ext>
            </a:extLst>
          </p:cNvPr>
          <p:cNvSpPr txBox="1"/>
          <p:nvPr/>
        </p:nvSpPr>
        <p:spPr>
          <a:xfrm>
            <a:off x="384596" y="5480861"/>
            <a:ext cx="50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5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8055062" y="1150005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2</a:t>
            </a:r>
            <a:endParaRPr lang="nl-NL" dirty="0"/>
          </a:p>
          <a:p>
            <a:r>
              <a:rPr lang="nl-NL" dirty="0"/>
              <a:t>3</a:t>
            </a:r>
          </a:p>
          <a:p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532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4C4E7A-E4B6-4A32-8CEB-6FECCB43B894}">
  <ds:schemaRefs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d27e653b-d318-4ef3-ba38-8d23e212adcb"/>
    <ds:schemaRef ds:uri="http://schemas.microsoft.com/office/infopath/2007/PartnerControls"/>
    <ds:schemaRef ds:uri="271569a7-1784-4b50-bede-f81c246730b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6B26347-C3A7-499F-9995-3FEC6EA0DB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123</TotalTime>
  <Words>436</Words>
  <Application>Microsoft Office PowerPoint</Application>
  <PresentationFormat>Breedbeeld</PresentationFormat>
  <Paragraphs>104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10</cp:revision>
  <dcterms:created xsi:type="dcterms:W3CDTF">2025-10-30T18:42:02Z</dcterms:created>
  <dcterms:modified xsi:type="dcterms:W3CDTF">2026-02-24T08:18:10Z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