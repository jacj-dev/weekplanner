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60" r:id="rId5"/>
    <p:sldId id="267" r:id="rId6"/>
    <p:sldId id="274" r:id="rId7"/>
    <p:sldId id="275" r:id="rId8"/>
    <p:sldId id="277" r:id="rId9"/>
    <p:sldId id="276" r:id="rId10"/>
    <p:sldId id="278" r:id="rId11"/>
    <p:sldId id="280" r:id="rId12"/>
    <p:sldId id="281" r:id="rId13"/>
    <p:sldId id="279" r:id="rId14"/>
    <p:sldId id="269" r:id="rId15"/>
    <p:sldId id="283" r:id="rId16"/>
    <p:sldId id="284" r:id="rId17"/>
    <p:sldId id="272" r:id="rId18"/>
    <p:sldId id="285" r:id="rId19"/>
  </p:sldIdLst>
  <p:sldSz cx="12192000" cy="6858000"/>
  <p:notesSz cx="6858000" cy="9144000"/>
  <p:embeddedFontLst>
    <p:embeddedFont>
      <p:font typeface="Tahoma" panose="020B0604030504040204" pitchFamily="34" charset="0"/>
      <p:regular r:id="rId22"/>
      <p:bold r:id="rId23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2"/>
  </p:normalViewPr>
  <p:slideViewPr>
    <p:cSldViewPr snapToGrid="0" snapToObjects="1">
      <p:cViewPr varScale="1">
        <p:scale>
          <a:sx n="105" d="100"/>
          <a:sy n="105" d="100"/>
        </p:scale>
        <p:origin x="834" y="78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ksbergen" userId="fea57724-933b-4009-85de-d6e631dbc231" providerId="ADAL" clId="{0593DD17-017D-4879-923D-48F6DB4E361D}"/>
    <pc:docChg chg="modSld">
      <pc:chgData name="David Hoksbergen" userId="fea57724-933b-4009-85de-d6e631dbc231" providerId="ADAL" clId="{0593DD17-017D-4879-923D-48F6DB4E361D}" dt="2026-02-24T08:03:00.785" v="0" actId="1076"/>
      <pc:docMkLst>
        <pc:docMk/>
      </pc:docMkLst>
      <pc:sldChg chg="modSp mod">
        <pc:chgData name="David Hoksbergen" userId="fea57724-933b-4009-85de-d6e631dbc231" providerId="ADAL" clId="{0593DD17-017D-4879-923D-48F6DB4E361D}" dt="2026-02-24T08:03:00.785" v="0" actId="1076"/>
        <pc:sldMkLst>
          <pc:docMk/>
          <pc:sldMk cId="652898825" sldId="285"/>
        </pc:sldMkLst>
        <pc:spChg chg="mod">
          <ac:chgData name="David Hoksbergen" userId="fea57724-933b-4009-85de-d6e631dbc231" providerId="ADAL" clId="{0593DD17-017D-4879-923D-48F6DB4E361D}" dt="2026-02-24T08:03:00.785" v="0" actId="1076"/>
          <ac:spMkLst>
            <pc:docMk/>
            <pc:sldMk cId="652898825" sldId="285"/>
            <ac:spMk id="10" creationId="{238CECB2-DFF4-094F-D592-A1699871D76A}"/>
          </ac:spMkLst>
        </pc:spChg>
        <pc:spChg chg="mod">
          <ac:chgData name="David Hoksbergen" userId="fea57724-933b-4009-85de-d6e631dbc231" providerId="ADAL" clId="{0593DD17-017D-4879-923D-48F6DB4E361D}" dt="2026-02-24T08:03:00.785" v="0" actId="1076"/>
          <ac:spMkLst>
            <pc:docMk/>
            <pc:sldMk cId="652898825" sldId="285"/>
            <ac:spMk id="11" creationId="{FA394CFE-873F-9540-4F5E-AE4828623606}"/>
          </ac:spMkLst>
        </pc:spChg>
        <pc:spChg chg="mod">
          <ac:chgData name="David Hoksbergen" userId="fea57724-933b-4009-85de-d6e631dbc231" providerId="ADAL" clId="{0593DD17-017D-4879-923D-48F6DB4E361D}" dt="2026-02-24T08:03:00.785" v="0" actId="1076"/>
          <ac:spMkLst>
            <pc:docMk/>
            <pc:sldMk cId="652898825" sldId="285"/>
            <ac:spMk id="12" creationId="{954DD945-78D6-1E8C-E39A-6614A2782EC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1.2 Kubus en vierkant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C Kubus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593901" y="2227076"/>
            <a:ext cx="1115514" cy="36336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8970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89704"/>
            <a:ext cx="230784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75390"/>
            <a:ext cx="190550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46914"/>
            <a:ext cx="261873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7539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4691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 descr="Afbeelding met lijn, diagram, ontwerp, origami&#10;&#10;Door AI gegenereerde inhoud is mogelijk onjuist.">
            <a:extLst>
              <a:ext uri="{FF2B5EF4-FFF2-40B4-BE49-F238E27FC236}">
                <a16:creationId xmlns:a16="http://schemas.microsoft.com/office/drawing/2014/main" id="{3798F0A4-7D52-C3C1-B6B3-5FA265ABF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670" y="2372534"/>
            <a:ext cx="290318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7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4CA0-62F4-8C94-9E7D-172C26E5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8C68F5F-B35B-522A-7063-E3BFF173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CFD940C-27FD-3E10-CC61-5C66B511B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019CAF7-425B-88D2-1B99-ADA94626A8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510774" y="471348"/>
            <a:ext cx="1115514" cy="36336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4CDEE15-9DF1-7DEA-2626-E95FFDF0B1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8970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76055F5-3241-C39F-E7CD-684001625B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89704"/>
            <a:ext cx="230784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189BEE1-C5A5-6100-14DD-5F6A3A003D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75390"/>
            <a:ext cx="190550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40901135-E04F-B1B6-C988-83AB6E06DB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46914"/>
            <a:ext cx="261873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612C69E1-8123-641A-C64D-551FA44ADFB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7539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B328697A-08C9-AC9B-DD11-A3A72983FCD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4691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B36AD89-FCC0-27F0-5E7D-B29090E60F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59670" y="2396485"/>
            <a:ext cx="2903185" cy="247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0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2209-478B-493E-246E-4637BB589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8EC087A-DDEC-4B4E-F3FC-9D66F132E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EAC5AD5-B3F6-D6BE-509A-701AD66936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95C7CD1-3208-6D8B-3C83-60BF9E4F97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593901" y="1376367"/>
            <a:ext cx="1115514" cy="36336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B814D614-EAB0-B500-BF72-4A3D9BF9AB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8970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DCAA1DFE-DA86-AE11-0F77-635F53EB69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89704"/>
            <a:ext cx="230784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2A4D7EF-4FA0-575B-CA5D-E75E4EEA40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75390"/>
            <a:ext cx="190550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9567DD8E-F19A-A317-4476-FC11B000DE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46914"/>
            <a:ext cx="261873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A878E170-458A-6A47-8CD8-1E92A2855D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7539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EDB71D18-955E-6A5A-E658-CE7423FF26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4691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94E744F-96E3-3493-74D6-4D46EAD96B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59670" y="2396485"/>
            <a:ext cx="2903185" cy="247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8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F5931-C8CD-BD54-E112-36A3D27AC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267288C-BB1E-0B62-A27B-7E966554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2845D5A-E355-22D5-7EE2-113E52CA1D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EE0254A-A588-F1EF-F92D-2D1FE266935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593901" y="1372319"/>
            <a:ext cx="1115514" cy="36336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9381EE0-39F5-0A5D-BDE5-EBB8FAE6187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8970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D652B81-6B5B-697A-E577-90161A3E0C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89704"/>
            <a:ext cx="230784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83C748FD-5CA2-12D0-8D14-048A6817D4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75390"/>
            <a:ext cx="190550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31E9AC50-5865-C29D-C2D4-488E5848DD5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46914"/>
            <a:ext cx="261873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9597D8D8-350B-0187-B3B4-A5A6746006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7539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03F8E6D4-EB5D-6A82-07BA-0133ED791B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4691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0CC32B2-0DE1-FD69-FD81-298A1E85C4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59259" y="2372534"/>
            <a:ext cx="2104006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5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6960E-9528-9C20-EFDF-C36F96C9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8EB2F20-E6D1-C387-6C08-7CDA28D4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3AB186D-CB75-165A-D80E-1E0BC5EDBA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74289D3-6E27-1019-67B2-AFE2544B8F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593901" y="2227076"/>
            <a:ext cx="1115514" cy="36336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B0005F0-2DBC-6D68-3905-EF511E145A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8970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3AB1F07-61B5-F6EB-B159-C48F8B392BA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89704"/>
            <a:ext cx="230784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8A8EF77D-D82E-7A07-01C1-2CDBF14F2E5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75390"/>
            <a:ext cx="190550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0BDB5275-DAAE-172D-48C9-FDA7FF6100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46914"/>
            <a:ext cx="261873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455586-15D6-FB55-4229-BCC630AA20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7539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7A5F3CC9-9078-C060-3C63-7F32CB073E1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4691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AD5B4FD-06A6-6E72-739E-22877A25D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76051" y="2372534"/>
            <a:ext cx="207042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3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D8FC9-9319-3CC7-1BD9-5E1E3629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F6BF443D-F0F8-5C20-EE7F-7EE511B1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383D1FE-B4E0-011E-588D-BA6305B004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89CC61D-E583-B632-D8D2-1972ADE373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390701" y="500795"/>
            <a:ext cx="1115514" cy="36336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322C9CCE-3EBD-8480-0DF8-DEEC6593AC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8970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B4ACCBD-3DEC-6CB5-6A97-1A416D7EEC6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89704"/>
            <a:ext cx="230784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5C2BE4C4-20F5-6E85-B934-A0BB3C7CECB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75390"/>
            <a:ext cx="190550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4787527-B51E-D062-813E-EB3EB85594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46914"/>
            <a:ext cx="261873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1F74C5D6-9727-8FBD-7524-17FC9844CFC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7539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341A1CF1-6D5C-184C-A688-F4369FE3F6C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4691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A10BDD2-852F-B984-2816-F9BB06B6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59259" y="2372534"/>
            <a:ext cx="2104006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6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0A5CF-B41E-BA36-E40E-F50307668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78308930-7782-D5EE-60A0-F2AC94DE9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9B42BF5-3F9A-6E14-A9BE-BB9A1B110F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82D5C7E-F772-B246-D709-AEE85AA657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559110" y="1355552"/>
            <a:ext cx="1115514" cy="36336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1A48AB3-3B86-21A3-870B-6841BFB49F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8970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D793BFBC-5EE4-BD29-B2D2-E94A1159F1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89704"/>
            <a:ext cx="230784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4D65247E-4628-A2FC-48F6-1A7F99D3DB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75390"/>
            <a:ext cx="190550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E6BAAB46-7E59-C7AF-B583-C1FFB442BF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46914"/>
            <a:ext cx="261873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63D852E0-E971-BA07-748C-7DA8145A9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7539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CC554B8C-CB63-3F9F-CFAA-8ABF9BEC96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4691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EFD82C8-C60A-C072-D3A5-8B5CA120A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51262" y="2372534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4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34878-DD6E-2E7E-7D3C-4F4D10CD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F24CF5F-E829-01D3-DA5F-976703E2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9B5297C-76EA-CC98-D7D9-353C7D9C6C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A987187-226C-55D9-8517-9057332374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593901" y="2227076"/>
            <a:ext cx="1115514" cy="36336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E347A61D-7F23-E191-9F7C-771E5E5FCB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8970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40F379DF-3C8E-D062-8B19-1F851EB639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89704"/>
            <a:ext cx="230784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4DB1EB4-AB38-59D5-54F5-7862A8C3E8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75390"/>
            <a:ext cx="190550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C7E67E50-0C5B-0781-C22C-7DC80B2BD15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46914"/>
            <a:ext cx="261873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993D0D57-7956-8D9E-8935-3CC536AA000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7539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70AB6933-4771-1C71-A33C-D6181333066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4691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8C92438-93A9-69B0-CE80-7C57DEBC0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51262" y="2372534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3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3803-8805-97FF-C624-06CE7D62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395E11F-6E26-729E-F159-3997821F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9982A38-3A4B-7718-B33B-940BF4550B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8FD36A7-1D79-736E-6642-519FE09261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447057" y="500795"/>
            <a:ext cx="1115514" cy="36336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EEBDAD2-6E9E-A391-9068-80BF00C78B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8970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7B73D2F-F8C5-5382-EDBE-30A26A081BF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89704"/>
            <a:ext cx="230784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3DAE5A3-B658-8476-D8A7-46EA240EBA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75390"/>
            <a:ext cx="190550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10B3169-7CDD-B923-DBF3-6A94723F528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46914"/>
            <a:ext cx="261873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2C002A3E-498C-DBAA-9385-8C76AF5F423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7539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CC6990ED-FE71-C6B7-EDB1-4DB341ABA3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4691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806F685-8416-1839-A849-98B482FFC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56918" y="2372534"/>
            <a:ext cx="2708688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8776649" cy="3876119"/>
          </a:xfrm>
        </p:spPr>
        <p:txBody>
          <a:bodyPr/>
          <a:lstStyle/>
          <a:p>
            <a:r>
              <a:rPr lang="nl-NL" dirty="0"/>
              <a:t>Een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kubus</a:t>
            </a:r>
            <a:r>
              <a:rPr lang="nl-NL" dirty="0"/>
              <a:t> heeft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6 platte zijvlakken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8 hoekpunten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12 ribben. </a:t>
            </a:r>
          </a:p>
          <a:p>
            <a:r>
              <a:rPr lang="nl-NL" dirty="0"/>
              <a:t>Alle ribben van een kubus zijn even lang. </a:t>
            </a:r>
          </a:p>
          <a:p>
            <a:r>
              <a:rPr lang="nl-NL" dirty="0"/>
              <a:t>Elk zijvlak heeft de vorm van een vierkant.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AC5DE9EA-584F-9C1D-D586-4B3AC940A38B}"/>
              </a:ext>
            </a:extLst>
          </p:cNvPr>
          <p:cNvSpPr txBox="1">
            <a:spLocks/>
          </p:cNvSpPr>
          <p:nvPr/>
        </p:nvSpPr>
        <p:spPr>
          <a:xfrm>
            <a:off x="759097" y="181835"/>
            <a:ext cx="10840059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C Kubus</a:t>
            </a:r>
          </a:p>
        </p:txBody>
      </p:sp>
      <p:pic>
        <p:nvPicPr>
          <p:cNvPr id="5" name="Afbeelding 4" descr="Afbeelding met diagram, lijn, Perceel, Technische tekening&#10;&#10;Door AI gegenereerde inhoud is mogelijk onjuist.">
            <a:extLst>
              <a:ext uri="{FF2B5EF4-FFF2-40B4-BE49-F238E27FC236}">
                <a16:creationId xmlns:a16="http://schemas.microsoft.com/office/drawing/2014/main" id="{401FFA29-56D3-CFB2-FA2D-3DF6254CDDC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75611" y="1193785"/>
            <a:ext cx="4696898" cy="23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AF876-276A-2A0C-BC79-0F57D202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BF97524-B96C-AFB3-271F-3695A62E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F1C551E-47F7-850D-7547-CD2C1FFDD4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8776649" cy="3876119"/>
          </a:xfrm>
        </p:spPr>
        <p:txBody>
          <a:bodyPr/>
          <a:lstStyle/>
          <a:p>
            <a:r>
              <a:rPr lang="nl-NL" dirty="0"/>
              <a:t>Bij de hoekpunten van de kubus hiernaast </a:t>
            </a:r>
            <a:br>
              <a:rPr lang="nl-NL" dirty="0"/>
            </a:br>
            <a:r>
              <a:rPr lang="nl-NL" dirty="0"/>
              <a:t>staan de hoofdletters </a:t>
            </a:r>
            <a:r>
              <a:rPr lang="nl-NL" i="1" dirty="0"/>
              <a:t>A</a:t>
            </a:r>
            <a:r>
              <a:rPr lang="nl-NL" dirty="0"/>
              <a:t> tot en met </a:t>
            </a:r>
            <a:r>
              <a:rPr lang="nl-NL" i="1" dirty="0"/>
              <a:t>H</a:t>
            </a:r>
            <a:r>
              <a:rPr lang="nl-NL" dirty="0"/>
              <a:t>. </a:t>
            </a:r>
          </a:p>
          <a:p>
            <a:r>
              <a:rPr lang="nl-NL" dirty="0"/>
              <a:t>De letters </a:t>
            </a:r>
            <a:r>
              <a:rPr lang="nl-NL" i="1" dirty="0"/>
              <a:t>A</a:t>
            </a:r>
            <a:r>
              <a:rPr lang="nl-NL" dirty="0"/>
              <a:t>, </a:t>
            </a:r>
            <a:r>
              <a:rPr lang="nl-NL" i="1" dirty="0"/>
              <a:t>B</a:t>
            </a:r>
            <a:r>
              <a:rPr lang="nl-NL" dirty="0"/>
              <a:t>, </a:t>
            </a:r>
            <a:r>
              <a:rPr lang="nl-NL" i="1" dirty="0"/>
              <a:t>C</a:t>
            </a:r>
            <a:r>
              <a:rPr lang="nl-NL" dirty="0"/>
              <a:t> en </a:t>
            </a:r>
            <a:r>
              <a:rPr lang="nl-NL" i="1" dirty="0"/>
              <a:t>D</a:t>
            </a:r>
            <a:r>
              <a:rPr lang="nl-NL" dirty="0"/>
              <a:t> staan bij het </a:t>
            </a:r>
            <a:br>
              <a:rPr lang="nl-NL" dirty="0"/>
            </a:br>
            <a:r>
              <a:rPr lang="nl-NL" dirty="0"/>
              <a:t>ondervlak. </a:t>
            </a:r>
          </a:p>
          <a:p>
            <a:r>
              <a:rPr lang="nl-NL" dirty="0"/>
              <a:t>De letters </a:t>
            </a:r>
            <a:r>
              <a:rPr lang="nl-NL" i="1" dirty="0"/>
              <a:t>E</a:t>
            </a:r>
            <a:r>
              <a:rPr lang="nl-NL" dirty="0"/>
              <a:t>, </a:t>
            </a:r>
            <a:r>
              <a:rPr lang="nl-NL" i="1" dirty="0"/>
              <a:t>F</a:t>
            </a:r>
            <a:r>
              <a:rPr lang="nl-NL" dirty="0"/>
              <a:t>, </a:t>
            </a:r>
            <a:r>
              <a:rPr lang="nl-NL" i="1" dirty="0"/>
              <a:t>G</a:t>
            </a:r>
            <a:r>
              <a:rPr lang="nl-NL" dirty="0"/>
              <a:t> en </a:t>
            </a:r>
            <a:r>
              <a:rPr lang="nl-NL" i="1" dirty="0"/>
              <a:t>H</a:t>
            </a:r>
            <a:r>
              <a:rPr lang="nl-NL" dirty="0"/>
              <a:t> staan bij het </a:t>
            </a:r>
            <a:br>
              <a:rPr lang="nl-NL" dirty="0"/>
            </a:br>
            <a:r>
              <a:rPr lang="nl-NL" dirty="0"/>
              <a:t>bovenvlak.</a:t>
            </a:r>
          </a:p>
          <a:p>
            <a:r>
              <a:rPr lang="nl-NL" dirty="0"/>
              <a:t>Deze kubus heet </a:t>
            </a:r>
            <a:r>
              <a:rPr lang="nl-NL" i="1" dirty="0"/>
              <a:t>kubus</a:t>
            </a:r>
            <a:r>
              <a:rPr lang="nl-NL" dirty="0"/>
              <a:t> </a:t>
            </a:r>
            <a:r>
              <a:rPr lang="nl-NL" i="1" dirty="0"/>
              <a:t>ABCD EFGH</a:t>
            </a:r>
            <a:r>
              <a:rPr lang="nl-NL" dirty="0"/>
              <a:t>. 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D50C3CAC-732A-610C-127F-9EBAFC9ACC97}"/>
              </a:ext>
            </a:extLst>
          </p:cNvPr>
          <p:cNvSpPr txBox="1">
            <a:spLocks/>
          </p:cNvSpPr>
          <p:nvPr/>
        </p:nvSpPr>
        <p:spPr>
          <a:xfrm>
            <a:off x="759097" y="181835"/>
            <a:ext cx="10840059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C Kubus</a:t>
            </a:r>
          </a:p>
        </p:txBody>
      </p:sp>
      <p:pic>
        <p:nvPicPr>
          <p:cNvPr id="5" name="Afbeelding 4" descr="Afbeelding met diagram, lijn, Perceel, Technische tekening&#10;&#10;Door AI gegenereerde inhoud is mogelijk onjuist.">
            <a:extLst>
              <a:ext uri="{FF2B5EF4-FFF2-40B4-BE49-F238E27FC236}">
                <a16:creationId xmlns:a16="http://schemas.microsoft.com/office/drawing/2014/main" id="{1FF86AC1-29F9-B951-9470-DAFBE7841A9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75611" y="1193785"/>
            <a:ext cx="4696898" cy="23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7210-00F3-FCB1-0E28-11F8F3FBD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D6F915B-73BE-BA18-5C2E-E856D781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CB8A5AA-54A0-96CA-6144-1C35590F55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8776649" cy="3876119"/>
          </a:xfrm>
        </p:spPr>
        <p:txBody>
          <a:bodyPr/>
          <a:lstStyle/>
          <a:p>
            <a:r>
              <a:rPr lang="nl-NL" dirty="0"/>
              <a:t>Bij het benoemen van een ribbe zet je de </a:t>
            </a:r>
            <a:br>
              <a:rPr lang="nl-NL" dirty="0"/>
            </a:br>
            <a:r>
              <a:rPr lang="nl-NL" dirty="0"/>
              <a:t>letters in alfabetische volgorde. </a:t>
            </a:r>
          </a:p>
          <a:p>
            <a:r>
              <a:rPr lang="nl-NL" dirty="0"/>
              <a:t>De gekleurde ribbe is ribbe </a:t>
            </a:r>
            <a:r>
              <a:rPr lang="nl-NL" i="1" dirty="0"/>
              <a:t>CG</a:t>
            </a:r>
            <a:r>
              <a:rPr lang="nl-NL" dirty="0"/>
              <a:t>.</a:t>
            </a:r>
          </a:p>
          <a:p>
            <a:r>
              <a:rPr lang="nl-NL" dirty="0"/>
              <a:t>Bij het benoemen van een zijvlak begin</a:t>
            </a:r>
            <a:br>
              <a:rPr lang="nl-NL" dirty="0"/>
            </a:br>
            <a:r>
              <a:rPr lang="nl-NL" dirty="0"/>
              <a:t>je linksonder. Je gaat rechtsom langs </a:t>
            </a:r>
            <a:br>
              <a:rPr lang="nl-NL" dirty="0"/>
            </a:br>
            <a:r>
              <a:rPr lang="nl-NL" dirty="0"/>
              <a:t>de hoekpunten. </a:t>
            </a:r>
          </a:p>
          <a:p>
            <a:r>
              <a:rPr lang="nl-NL" dirty="0"/>
              <a:t>Het gekleurde zijvlak is zijvlak </a:t>
            </a:r>
            <a:r>
              <a:rPr lang="nl-NL" i="1" dirty="0"/>
              <a:t>ADHE</a:t>
            </a:r>
            <a:r>
              <a:rPr lang="nl-NL" dirty="0"/>
              <a:t>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D2B44A1-4402-D7FE-BB3D-60BE3007A7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411" y="5527545"/>
            <a:ext cx="10751745" cy="614637"/>
          </a:xfrm>
        </p:spPr>
        <p:txBody>
          <a:bodyPr>
            <a:normAutofit/>
          </a:bodyPr>
          <a:lstStyle/>
          <a:p>
            <a:r>
              <a:rPr lang="nl-NL" b="1" dirty="0"/>
              <a:t>Leerdoel</a:t>
            </a:r>
            <a:r>
              <a:rPr lang="nl-NL" dirty="0"/>
              <a:t> Je kunt hoekpunten, ribben en zijvlakken van een kubus met letters benoemen.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E1DA3990-59A7-F3A4-E660-2F8C9E087561}"/>
              </a:ext>
            </a:extLst>
          </p:cNvPr>
          <p:cNvSpPr txBox="1">
            <a:spLocks/>
          </p:cNvSpPr>
          <p:nvPr/>
        </p:nvSpPr>
        <p:spPr>
          <a:xfrm>
            <a:off x="759097" y="181835"/>
            <a:ext cx="10840059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C Kubus</a:t>
            </a:r>
          </a:p>
        </p:txBody>
      </p:sp>
      <p:pic>
        <p:nvPicPr>
          <p:cNvPr id="5" name="Afbeelding 4" descr="Afbeelding met diagram, lijn, Perceel, Technische tekening&#10;&#10;Door AI gegenereerde inhoud is mogelijk onjuist.">
            <a:extLst>
              <a:ext uri="{FF2B5EF4-FFF2-40B4-BE49-F238E27FC236}">
                <a16:creationId xmlns:a16="http://schemas.microsoft.com/office/drawing/2014/main" id="{18652F0D-E5C3-83D2-486B-CBEF1623B8E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75611" y="1193785"/>
            <a:ext cx="4696898" cy="23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8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7" y="1112400"/>
            <a:ext cx="7352025" cy="739260"/>
          </a:xfrm>
        </p:spPr>
        <p:txBody>
          <a:bodyPr/>
          <a:lstStyle/>
          <a:p>
            <a:r>
              <a:rPr lang="nl-NL" dirty="0"/>
              <a:t>Testopgave Kubus </a:t>
            </a:r>
            <a:r>
              <a:rPr lang="nl-NL" i="1" dirty="0"/>
              <a:t>KLMN OPQR </a:t>
            </a:r>
            <a:r>
              <a:rPr lang="nl-NL" dirty="0"/>
              <a:t>(blz. 24)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1660"/>
            <a:ext cx="6476358" cy="4186752"/>
          </a:xfrm>
        </p:spPr>
        <p:txBody>
          <a:bodyPr/>
          <a:lstStyle/>
          <a:p>
            <a:r>
              <a:rPr lang="nl-NL" dirty="0"/>
              <a:t>Welk hoekpunt is oranje gekleurd?</a:t>
            </a:r>
          </a:p>
          <a:p>
            <a:r>
              <a:rPr lang="nl-NL" dirty="0"/>
              <a:t>Welke ribbe is paars gekleurd?</a:t>
            </a:r>
          </a:p>
          <a:p>
            <a:r>
              <a:rPr lang="nl-NL" dirty="0"/>
              <a:t>Welk zijvlak is geel gekleurd?</a:t>
            </a:r>
          </a:p>
        </p:txBody>
      </p:sp>
      <p:pic>
        <p:nvPicPr>
          <p:cNvPr id="4" name="Afbeelding 3" descr="Afbeelding met lijn, diagram, ontwerp&#10;&#10;Door AI gegenereerde inhoud is mogelijk onjuist.">
            <a:extLst>
              <a:ext uri="{FF2B5EF4-FFF2-40B4-BE49-F238E27FC236}">
                <a16:creationId xmlns:a16="http://schemas.microsoft.com/office/drawing/2014/main" id="{4B2DCA8B-FC72-C1A1-001A-701FE6AE1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429" y="2892139"/>
            <a:ext cx="3725468" cy="32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13AF-3CC2-3504-0FDD-5EAC9CFBF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E407775-C5B6-3BDD-ADEA-CDE63A12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AED7A02-6632-489A-425C-EB1E9ECF60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7290082" cy="739260"/>
          </a:xfrm>
        </p:spPr>
        <p:txBody>
          <a:bodyPr>
            <a:normAutofit/>
          </a:bodyPr>
          <a:lstStyle/>
          <a:p>
            <a:r>
              <a:rPr lang="nl-NL" dirty="0"/>
              <a:t>Testopgave Kubus </a:t>
            </a:r>
            <a:r>
              <a:rPr lang="nl-NL" i="1" dirty="0"/>
              <a:t>KLMN OPQR </a:t>
            </a:r>
            <a:r>
              <a:rPr lang="nl-NL" dirty="0"/>
              <a:t>(blz. 24)</a:t>
            </a:r>
            <a:endParaRPr lang="nl-NL" i="1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7C8BA83-E793-A8B1-34F4-858911062D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1660"/>
            <a:ext cx="6476358" cy="3489020"/>
          </a:xfrm>
        </p:spPr>
        <p:txBody>
          <a:bodyPr/>
          <a:lstStyle/>
          <a:p>
            <a:r>
              <a:rPr lang="nl-NL" dirty="0"/>
              <a:t>Welk hoekpunt is oranje gekleurd?</a:t>
            </a:r>
          </a:p>
          <a:p>
            <a:endParaRPr lang="nl-NL" dirty="0"/>
          </a:p>
          <a:p>
            <a:r>
              <a:rPr lang="nl-NL" dirty="0"/>
              <a:t>Welke ribbe is paars gekleurd?</a:t>
            </a:r>
          </a:p>
          <a:p>
            <a:endParaRPr lang="nl-NL" dirty="0"/>
          </a:p>
          <a:p>
            <a:r>
              <a:rPr lang="nl-NL" dirty="0"/>
              <a:t>Welk zijvlak is geel gekleurd?</a:t>
            </a:r>
          </a:p>
        </p:txBody>
      </p:sp>
      <p:pic>
        <p:nvPicPr>
          <p:cNvPr id="4" name="Afbeelding 3" descr="Afbeelding met lijn, diagram, ontwerp&#10;&#10;Door AI gegenereerde inhoud is mogelijk onjuist.">
            <a:extLst>
              <a:ext uri="{FF2B5EF4-FFF2-40B4-BE49-F238E27FC236}">
                <a16:creationId xmlns:a16="http://schemas.microsoft.com/office/drawing/2014/main" id="{1F91C852-6AB0-D188-6532-50707E38C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429" y="2892139"/>
            <a:ext cx="3725468" cy="3204000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701A9BB5-1BDF-50B6-CD05-7C945EFB303F}"/>
              </a:ext>
            </a:extLst>
          </p:cNvPr>
          <p:cNvSpPr txBox="1"/>
          <p:nvPr/>
        </p:nvSpPr>
        <p:spPr>
          <a:xfrm>
            <a:off x="1321387" y="4562764"/>
            <a:ext cx="6234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Zijvlak </a:t>
            </a:r>
            <a:r>
              <a:rPr lang="nl-NL" sz="3200" i="1" dirty="0">
                <a:solidFill>
                  <a:srgbClr val="FF0000"/>
                </a:solidFill>
              </a:rPr>
              <a:t>OPQR</a:t>
            </a:r>
            <a:r>
              <a:rPr lang="nl-NL" sz="3200" dirty="0">
                <a:solidFill>
                  <a:srgbClr val="FF0000"/>
                </a:solidFill>
              </a:rPr>
              <a:t> is geel gekleurd.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BC0DFFDE-0EFB-D080-3428-3AACEFDC05A1}"/>
              </a:ext>
            </a:extLst>
          </p:cNvPr>
          <p:cNvSpPr txBox="1"/>
          <p:nvPr/>
        </p:nvSpPr>
        <p:spPr>
          <a:xfrm>
            <a:off x="1321387" y="3394537"/>
            <a:ext cx="6234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Ribbe </a:t>
            </a:r>
            <a:r>
              <a:rPr lang="nl-NL" sz="3200" i="1" dirty="0">
                <a:solidFill>
                  <a:srgbClr val="FF0000"/>
                </a:solidFill>
              </a:rPr>
              <a:t>KN</a:t>
            </a:r>
            <a:r>
              <a:rPr lang="nl-NL" sz="3200" dirty="0">
                <a:solidFill>
                  <a:srgbClr val="FF0000"/>
                </a:solidFill>
              </a:rPr>
              <a:t> is paars gekleurd.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BB63DC70-37FF-F803-A506-1B1472EE0294}"/>
              </a:ext>
            </a:extLst>
          </p:cNvPr>
          <p:cNvSpPr txBox="1"/>
          <p:nvPr/>
        </p:nvSpPr>
        <p:spPr>
          <a:xfrm>
            <a:off x="1321387" y="2260264"/>
            <a:ext cx="6234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Hoekpunt </a:t>
            </a:r>
            <a:r>
              <a:rPr lang="nl-NL" sz="3200" i="1" dirty="0">
                <a:solidFill>
                  <a:srgbClr val="FF0000"/>
                </a:solidFill>
              </a:rPr>
              <a:t>L</a:t>
            </a:r>
            <a:r>
              <a:rPr lang="nl-NL" sz="3200" dirty="0">
                <a:solidFill>
                  <a:srgbClr val="FF0000"/>
                </a:solidFill>
              </a:rPr>
              <a:t> is oranje gekleurd.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238CECB2-DFF4-094F-D592-A1699871D76A}"/>
              </a:ext>
            </a:extLst>
          </p:cNvPr>
          <p:cNvSpPr txBox="1"/>
          <p:nvPr/>
        </p:nvSpPr>
        <p:spPr>
          <a:xfrm>
            <a:off x="364297" y="2386161"/>
            <a:ext cx="480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FA394CFE-873F-9540-4F5E-AE4828623606}"/>
              </a:ext>
            </a:extLst>
          </p:cNvPr>
          <p:cNvSpPr txBox="1"/>
          <p:nvPr/>
        </p:nvSpPr>
        <p:spPr>
          <a:xfrm>
            <a:off x="364294" y="3505579"/>
            <a:ext cx="480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954DD945-78D6-1E8C-E39A-6614A2782ECF}"/>
              </a:ext>
            </a:extLst>
          </p:cNvPr>
          <p:cNvSpPr txBox="1"/>
          <p:nvPr/>
        </p:nvSpPr>
        <p:spPr>
          <a:xfrm>
            <a:off x="364295" y="4670485"/>
            <a:ext cx="480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3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937345" y="5316462"/>
            <a:ext cx="2016928" cy="1037857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 </a:t>
            </a:r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–</a:t>
            </a:r>
            <a:r>
              <a:rPr lang="nl-NL" dirty="0"/>
              <a:t> 1</a:t>
            </a:r>
          </a:p>
          <a:p>
            <a:r>
              <a:rPr lang="nl-NL" dirty="0"/>
              <a:t>2</a:t>
            </a:r>
          </a:p>
          <a:p>
            <a:r>
              <a:rPr lang="nl-NL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28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4C4E7A-E4B6-4A32-8CEB-6FECCB43B894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d27e653b-d318-4ef3-ba38-8d23e212adcb"/>
    <ds:schemaRef ds:uri="http://purl.org/dc/terms/"/>
    <ds:schemaRef ds:uri="http://www.w3.org/XML/1998/namespace"/>
    <ds:schemaRef ds:uri="http://purl.org/dc/dcmitype/"/>
    <ds:schemaRef ds:uri="271569a7-1784-4b50-bede-f81c246730b5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D633FD0-334C-42E9-90B8-3CCB5C3360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NIEUW_template_vFF_GR14_BasisPowerPoint</Template>
  <TotalTime>105</TotalTime>
  <Words>433</Words>
  <Application>Microsoft Office PowerPoint</Application>
  <PresentationFormat>Breedbeeld</PresentationFormat>
  <Paragraphs>119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Calibri</vt:lpstr>
      <vt:lpstr>Arial</vt:lpstr>
      <vt:lpstr>Times New Roman</vt:lpstr>
      <vt:lpstr>Tahoma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Jannis Bartelds</dc:creator>
  <dc:description/>
  <cp:lastModifiedBy>David Hoksbergen</cp:lastModifiedBy>
  <cp:revision>6</cp:revision>
  <dcterms:created xsi:type="dcterms:W3CDTF">2025-10-29T13:37:56Z</dcterms:created>
  <dcterms:modified xsi:type="dcterms:W3CDTF">2026-02-24T08:03:02Z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ediaServiceImageTags">
    <vt:lpwstr/>
  </property>
</Properties>
</file>